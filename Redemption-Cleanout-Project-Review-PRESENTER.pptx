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Photo is Redemption's own branded truck and trailer, pulled from the company Drive — no stock imagery anywhere in this deck, matching the site's content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 = the exact URL count in the live sitemap.xml, verified today. 27 city pages, 7 county pages, 2 service pages, plus the guides, legal and static pages. 32 photos = files in public/images/photos, all from Redemption's own Drive. 117 = FAQ question entries counted across src/content (12 site FAQ, 12 service, 14 county, 79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map directly to the changes recorded in HANDOFF.md §0b as coming out of the client's own site review. Each one is verifiable on the live site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 the entries in legacyRedirects in next.config.mjs, each returning a permanent 301. Verified live today: /who-we-serve and /services/estate-cleanouts both return a redirect, not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Service names taken verbatim from src/content/services.ts. Photos are Redemption's own: a full property cleanout load-out, and the finished commercial gut-out from the August demolition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are the live city pages per county in the sitemap. The architecture point is real: a new city is one content file, and the page, its county page, the navigation and the sitemap all update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was run page-by-page against the 27 city files and logged in CITY_PAGE_FIXES.md; the fixes are in the git history as one commit per county. An automated gate (tools/check-city-pages.mjs) now blocks unverifiable claims, prices, statistics and phrase overlap above 18% between any two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files in public/images/photos, every one traced to the client's shared Drive folder. EXIF including GPS is stripped by tools/import-photos.py on the way in.
PRESENTER: The GPS point is worth making out loud — job photos routinely carry the property's coordinates, and most contractors publish them without knowing.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described as a large interior gut-out, not a structure teardown, because that is what the photographs actually show. The site's copy is written so nothing implies otherwise — this is the kind of accuracy that keeps a claim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Wording is verbatim from src/content/process.ts, which is the single source the rest of the site is kept consistent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Postcards typically arrive 5-14 days from the request. The code is the whole gate: the profile exists but customers cannot see it in Search or Maps until it is entered. Two upsells were deliberately left unclicked — the $500 Google Ads credit, because ad spend is the owner's decision, and the Google Workspace trial, already handled through the email setup.
PRESENTER: Before sending or presenting: the profile description still reads 13 years and must be edited by hand in the dashboard to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defensible thing in the build and the easiest to misread as unfinished. Explain it before he encounters it. It is enforced by unit tests, not just by intention — the address rule in particular has a test that fails the build if the address is ever rendered.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2026-09-01 against a production build of the current site (post-restructure), desktop preset and mobile preset. Desktop performance 98, mobile 96, and 100/100/100 for accessibility, best practices and SEO on both. Accessibility sweep is axe-core across 16 routes at 390px and 1440px, run today. One contrast flag appeared intermittently on the home page's main button; isolated re-tests came back clean twice, and the button's actual colours measure 5.66:1 against white — comfortably above the 4.5:1 standard. It is an artefact of catching the fade-in animation mid-transition, not a real fault. Test count is the Vitest suite, verified passing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here has a feature already built behind it. The Google code is the highest-value one and takes about a minute. The team video is the only line that is a project rather than an errand — it needs a crew, a site and a date.
PRESENTER: Three earlier asks came off this slide: the logo and profile photos are in hand on our side, the business email is settled (Dante@redemptioncleanoutservices.com) and now published on the site, and the old Business Manager account is ours to clean up, not his. Raise the video early — it has the longest lead time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timeline is standard for any new domain. It is not a comment on the quality of the build, and no amount of work on the site shortens it.
PRESENTER: Say this one out loud rather than letting him read past it. Overselling here buys three good weeks and then a hard conversation when he checks Google and finds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retainer is an offer, not an assumption. CRM integration is the piece with the clearest operational payoff: Jobber is already the system of record, it is just not connected to anything yet.
PRESENTER: Keep this factual and unpushy. Let the work argue for itself rather than pitching.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his own words — the slogan is his, and it earns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image" Target="../media/image-8-7.jpg"/><Relationship Id="rId8" Type="http://schemas.openxmlformats.org/officeDocument/2006/relationships/image" Target="../media/image-8-8.jp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0E"/>
        </a:solidFill>
      </p:bgPr>
    </p:bg>
    <p:spTree>
      <p:nvGrpSpPr>
        <p:cNvPr id="1" name=""/>
        <p:cNvGrpSpPr/>
        <p:nvPr/>
      </p:nvGrpSpPr>
      <p:grpSpPr>
        <a:xfrm>
          <a:off x="0" y="0"/>
          <a:ext cx="0" cy="0"/>
          <a:chOff x="0" y="0"/>
          <a:chExt cx="0" cy="0"/>
        </a:xfrm>
      </p:grpSpPr>
      <p:pic>
        <p:nvPicPr>
          <p:cNvPr id="2" name="Image 0" descr="/tmp/claude-0/-home-user-Redemption-Cleaout/6c436b38-4a00-5a84-b2a4-cdf94e186ff0/scratchpad/deck/branded-truck-and-dump-trailer-residential-driv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0D0E">
              <a:alpha val="82000"/>
            </a:srgbClr>
          </a:solidFill>
          <a:ln/>
        </p:spPr>
      </p:sp>
      <p:sp>
        <p:nvSpPr>
          <p:cNvPr id="4" name="Shape 1"/>
          <p:cNvSpPr/>
          <p:nvPr/>
        </p:nvSpPr>
        <p:spPr>
          <a:xfrm>
            <a:off x="0" y="2834640"/>
            <a:ext cx="12191695" cy="4023360"/>
          </a:xfrm>
          <a:prstGeom prst="rect">
            <a:avLst/>
          </a:prstGeom>
          <a:solidFill>
            <a:srgbClr val="0B0D0E">
              <a:alpha val="90000"/>
            </a:srgbClr>
          </a:solidFill>
          <a:ln/>
        </p:spPr>
      </p:sp>
      <p:sp>
        <p:nvSpPr>
          <p:cNvPr id="5" name="Text 2"/>
          <p:cNvSpPr txBox="1"/>
          <p:nvPr/>
        </p:nvSpPr>
        <p:spPr>
          <a:xfrm>
            <a:off x="685800" y="324612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PROJECT REVIEW · LIVING WATER NETWORK</a:t>
            </a:r>
            <a:endParaRPr lang="en-US" sz="1100" dirty="0"/>
          </a:p>
        </p:txBody>
      </p:sp>
      <p:sp>
        <p:nvSpPr>
          <p:cNvPr id="6" name="Text 3"/>
          <p:cNvSpPr txBox="1"/>
          <p:nvPr/>
        </p:nvSpPr>
        <p:spPr>
          <a:xfrm>
            <a:off x="685800" y="3611880"/>
            <a:ext cx="7498080" cy="1600200"/>
          </a:xfrm>
          <a:prstGeom prst="rect">
            <a:avLst/>
          </a:prstGeom>
          <a:noFill/>
          <a:ln/>
        </p:spPr>
        <p:txBody>
          <a:bodyPr wrap="square" lIns="0" tIns="0" rIns="0" bIns="0" rtlCol="0" anchor="ctr"/>
          <a:lstStyle/>
          <a:p>
            <a:pPr indent="0" marL="0">
              <a:lnSpc>
                <a:spcPct val="102000"/>
              </a:lnSpc>
              <a:buNone/>
            </a:pPr>
            <a:r>
              <a:rPr lang="en-US" sz="4200" b="1" spc="100" kern="0" dirty="0">
                <a:solidFill>
                  <a:srgbClr val="FFFFFF"/>
                </a:solidFill>
                <a:latin typeface="Arial" pitchFamily="34" charset="0"/>
                <a:ea typeface="Arial" pitchFamily="34" charset="-122"/>
                <a:cs typeface="Arial" pitchFamily="34" charset="-120"/>
              </a:rPr>
              <a:t>REDEMPTION</a:t>
            </a:r>
            <a:endParaRPr lang="en-US" sz="4200" dirty="0"/>
          </a:p>
          <a:p>
            <a:pPr indent="0" marL="0">
              <a:lnSpc>
                <a:spcPct val="102000"/>
              </a:lnSpc>
              <a:buNone/>
            </a:pPr>
            <a:r>
              <a:rPr lang="en-US" sz="4200" b="1" spc="100" kern="0" dirty="0">
                <a:solidFill>
                  <a:srgbClr val="FFFFFF"/>
                </a:solidFill>
                <a:latin typeface="Arial" pitchFamily="34" charset="0"/>
                <a:ea typeface="Arial" pitchFamily="34" charset="-122"/>
                <a:cs typeface="Arial" pitchFamily="34" charset="-120"/>
              </a:rPr>
              <a:t>CLEANOUT SERVICES</a:t>
            </a:r>
            <a:endParaRPr lang="en-US" sz="4200" dirty="0"/>
          </a:p>
        </p:txBody>
      </p:sp>
      <p:sp>
        <p:nvSpPr>
          <p:cNvPr id="7" name="Shape 4"/>
          <p:cNvSpPr/>
          <p:nvPr/>
        </p:nvSpPr>
        <p:spPr>
          <a:xfrm>
            <a:off x="685800" y="5349240"/>
            <a:ext cx="1463040" cy="32004"/>
          </a:xfrm>
          <a:prstGeom prst="rect">
            <a:avLst/>
          </a:prstGeom>
          <a:solidFill>
            <a:srgbClr val="C32C26"/>
          </a:solidFill>
          <a:ln/>
        </p:spPr>
      </p:sp>
      <p:sp>
        <p:nvSpPr>
          <p:cNvPr id="8" name="Text 5"/>
          <p:cNvSpPr txBox="1"/>
          <p:nvPr/>
        </p:nvSpPr>
        <p:spPr>
          <a:xfrm>
            <a:off x="685800" y="5577840"/>
            <a:ext cx="6949440" cy="822960"/>
          </a:xfrm>
          <a:prstGeom prst="rect">
            <a:avLst/>
          </a:prstGeom>
          <a:noFill/>
          <a:ln/>
        </p:spPr>
        <p:txBody>
          <a:bodyPr wrap="square" lIns="0" tIns="0" rIns="0" bIns="0" rtlCol="0" anchor="ctr"/>
          <a:lstStyle/>
          <a:p>
            <a:pPr indent="0" marL="0">
              <a:lnSpc>
                <a:spcPct val="130000"/>
              </a:lnSpc>
              <a:buNone/>
            </a:pPr>
            <a:r>
              <a:rPr lang="en-US" sz="1400" dirty="0">
                <a:solidFill>
                  <a:srgbClr val="D8D5D1"/>
                </a:solidFill>
                <a:latin typeface="Calibri" pitchFamily="34" charset="0"/>
                <a:ea typeface="Calibri" pitchFamily="34" charset="-122"/>
                <a:cs typeface="Calibri" pitchFamily="34" charset="-120"/>
              </a:rPr>
              <a:t>Everything built and shipped — from first line of code to a live site and a Google listing.</a:t>
            </a:r>
            <a:endParaRPr lang="en-US" sz="1400" dirty="0"/>
          </a:p>
          <a:p>
            <a:pPr indent="0" marL="0">
              <a:lnSpc>
                <a:spcPct val="130000"/>
              </a:lnSpc>
              <a:buNone/>
            </a:pPr>
            <a:r>
              <a:rPr lang="en-US" sz="1400" dirty="0">
                <a:solidFill>
                  <a:srgbClr val="D8D5D1"/>
                </a:solidFill>
                <a:latin typeface="Calibri" pitchFamily="34" charset="0"/>
                <a:ea typeface="Calibri" pitchFamily="34" charset="-122"/>
                <a:cs typeface="Calibri" pitchFamily="34" charset="-120"/>
              </a:rPr>
              <a:t>September 1,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WHERE IT STANDS TODAY</a:t>
            </a:r>
            <a:endParaRPr lang="en-US" sz="1100" dirty="0"/>
          </a:p>
        </p:txBody>
      </p:sp>
      <p:sp>
        <p:nvSpPr>
          <p:cNvPr id="3" name="Text 1"/>
          <p:cNvSpPr txBox="1"/>
          <p:nvPr/>
        </p:nvSpPr>
        <p:spPr>
          <a:xfrm>
            <a:off x="685800" y="1005840"/>
            <a:ext cx="10789920" cy="1371600"/>
          </a:xfrm>
          <a:prstGeom prst="rect">
            <a:avLst/>
          </a:prstGeom>
          <a:noFill/>
          <a:ln/>
        </p:spPr>
        <p:txBody>
          <a:bodyPr wrap="square" lIns="0" tIns="0" rIns="0" bIns="0" rtlCol="0" anchor="t"/>
          <a:lstStyle/>
          <a:p>
            <a:pPr indent="0" marL="0">
              <a:lnSpc>
                <a:spcPct val="100000"/>
              </a:lnSpc>
              <a:buNone/>
            </a:pPr>
            <a:r>
              <a:rPr lang="en-US" sz="3200" b="1" spc="50" kern="0" dirty="0">
                <a:solidFill>
                  <a:srgbClr val="0B0D0E"/>
                </a:solidFill>
                <a:latin typeface="Arial" pitchFamily="34" charset="0"/>
                <a:ea typeface="Arial" pitchFamily="34" charset="-122"/>
                <a:cs typeface="Arial" pitchFamily="34" charset="-120"/>
              </a:rPr>
              <a:t>The site is live, and everything you asked</a:t>
            </a:r>
            <a:endParaRPr lang="en-US" sz="3200" dirty="0"/>
          </a:p>
          <a:p>
            <a:pPr indent="0" marL="0">
              <a:lnSpc>
                <a:spcPct val="100000"/>
              </a:lnSpc>
              <a:buNone/>
            </a:pPr>
            <a:r>
              <a:rPr lang="en-US" sz="3200" b="1" spc="50" kern="0" dirty="0">
                <a:solidFill>
                  <a:srgbClr val="0B0D0E"/>
                </a:solidFill>
                <a:latin typeface="Arial" pitchFamily="34" charset="0"/>
                <a:ea typeface="Arial" pitchFamily="34" charset="-122"/>
                <a:cs typeface="Arial" pitchFamily="34" charset="-120"/>
              </a:rPr>
              <a:t>for in your review is on it.</a:t>
            </a:r>
            <a:endParaRPr lang="en-US" sz="3200" dirty="0"/>
          </a:p>
        </p:txBody>
      </p:sp>
      <p:sp>
        <p:nvSpPr>
          <p:cNvPr id="4" name="Shape 2"/>
          <p:cNvSpPr/>
          <p:nvPr/>
        </p:nvSpPr>
        <p:spPr>
          <a:xfrm>
            <a:off x="685800" y="2514600"/>
            <a:ext cx="1463040" cy="32004"/>
          </a:xfrm>
          <a:prstGeom prst="rect">
            <a:avLst/>
          </a:prstGeom>
          <a:solidFill>
            <a:srgbClr val="C32C26"/>
          </a:solidFill>
          <a:ln/>
        </p:spPr>
      </p:sp>
      <p:sp>
        <p:nvSpPr>
          <p:cNvPr id="5" name="Text 3"/>
          <p:cNvSpPr txBox="1"/>
          <p:nvPr/>
        </p:nvSpPr>
        <p:spPr>
          <a:xfrm>
            <a:off x="685800" y="2788920"/>
            <a:ext cx="10789920" cy="82296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redemptioncleanoutservices.com is serving to the public over HTTPS, on both the apex and www. Google is allowed to crawl every page. The restructure you asked for is not staged or waiting — it shipped and it is what visitors see right now.</a:t>
            </a:r>
            <a:endParaRPr lang="en-US" sz="1500" dirty="0"/>
          </a:p>
        </p:txBody>
      </p:sp>
      <p:sp>
        <p:nvSpPr>
          <p:cNvPr id="6" name="Text 4"/>
          <p:cNvSpPr txBox="1"/>
          <p:nvPr/>
        </p:nvSpPr>
        <p:spPr>
          <a:xfrm>
            <a:off x="685800" y="4434840"/>
            <a:ext cx="251460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53</a:t>
            </a:r>
            <a:endParaRPr lang="en-US" sz="5600" dirty="0"/>
          </a:p>
        </p:txBody>
      </p:sp>
      <p:sp>
        <p:nvSpPr>
          <p:cNvPr id="7" name="Text 5"/>
          <p:cNvSpPr txBox="1"/>
          <p:nvPr/>
        </p:nvSpPr>
        <p:spPr>
          <a:xfrm>
            <a:off x="685800" y="5367528"/>
            <a:ext cx="25146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PAGES LIVE AND</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INDEXABLE</a:t>
            </a:r>
            <a:endParaRPr lang="en-US" sz="1100" dirty="0"/>
          </a:p>
        </p:txBody>
      </p:sp>
      <p:sp>
        <p:nvSpPr>
          <p:cNvPr id="8" name="Text 6"/>
          <p:cNvSpPr txBox="1"/>
          <p:nvPr/>
        </p:nvSpPr>
        <p:spPr>
          <a:xfrm>
            <a:off x="3429000" y="4434840"/>
            <a:ext cx="251460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27</a:t>
            </a:r>
            <a:endParaRPr lang="en-US" sz="5600" dirty="0"/>
          </a:p>
        </p:txBody>
      </p:sp>
      <p:sp>
        <p:nvSpPr>
          <p:cNvPr id="9" name="Text 7"/>
          <p:cNvSpPr txBox="1"/>
          <p:nvPr/>
        </p:nvSpPr>
        <p:spPr>
          <a:xfrm>
            <a:off x="3429000" y="5367528"/>
            <a:ext cx="25146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METRO DETROIT</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CITY PAGES</a:t>
            </a:r>
            <a:endParaRPr lang="en-US" sz="1100" dirty="0"/>
          </a:p>
        </p:txBody>
      </p:sp>
      <p:sp>
        <p:nvSpPr>
          <p:cNvPr id="10" name="Text 8"/>
          <p:cNvSpPr txBox="1"/>
          <p:nvPr/>
        </p:nvSpPr>
        <p:spPr>
          <a:xfrm>
            <a:off x="6172200" y="4434840"/>
            <a:ext cx="251460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32</a:t>
            </a:r>
            <a:endParaRPr lang="en-US" sz="5600" dirty="0"/>
          </a:p>
        </p:txBody>
      </p:sp>
      <p:sp>
        <p:nvSpPr>
          <p:cNvPr id="11" name="Text 9"/>
          <p:cNvSpPr txBox="1"/>
          <p:nvPr/>
        </p:nvSpPr>
        <p:spPr>
          <a:xfrm>
            <a:off x="6172200" y="5367528"/>
            <a:ext cx="25146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REAL JOB PHOTOS,</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ZERO STOCK</a:t>
            </a:r>
            <a:endParaRPr lang="en-US" sz="1100" dirty="0"/>
          </a:p>
        </p:txBody>
      </p:sp>
      <p:sp>
        <p:nvSpPr>
          <p:cNvPr id="12" name="Text 10"/>
          <p:cNvSpPr txBox="1"/>
          <p:nvPr/>
        </p:nvSpPr>
        <p:spPr>
          <a:xfrm>
            <a:off x="8915400" y="4434840"/>
            <a:ext cx="2514600" cy="960120"/>
          </a:xfrm>
          <a:prstGeom prst="rect">
            <a:avLst/>
          </a:prstGeom>
          <a:noFill/>
          <a:ln/>
        </p:spPr>
        <p:txBody>
          <a:bodyPr wrap="square" lIns="0" tIns="0" rIns="0" bIns="0" rtlCol="0" anchor="t"/>
          <a:lstStyle/>
          <a:p>
            <a:pPr algn="l" indent="0" marL="0">
              <a:buNone/>
            </a:pPr>
            <a:r>
              <a:rPr lang="en-US" sz="5600" b="1" dirty="0">
                <a:solidFill>
                  <a:srgbClr val="A91E23"/>
                </a:solidFill>
                <a:latin typeface="Arial" pitchFamily="34" charset="0"/>
                <a:ea typeface="Arial" pitchFamily="34" charset="-122"/>
                <a:cs typeface="Arial" pitchFamily="34" charset="-120"/>
              </a:rPr>
              <a:t>117</a:t>
            </a:r>
            <a:endParaRPr lang="en-US" sz="5600" dirty="0"/>
          </a:p>
        </p:txBody>
      </p:sp>
      <p:sp>
        <p:nvSpPr>
          <p:cNvPr id="13" name="Text 11"/>
          <p:cNvSpPr txBox="1"/>
          <p:nvPr/>
        </p:nvSpPr>
        <p:spPr>
          <a:xfrm>
            <a:off x="8915400" y="5367528"/>
            <a:ext cx="25146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WRITTEN FAQ</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ANSWERS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0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YOUR REVIEW, ANSWERED</a:t>
            </a:r>
            <a:endParaRPr lang="en-US" sz="1100" dirty="0"/>
          </a:p>
        </p:txBody>
      </p:sp>
      <p:sp>
        <p:nvSpPr>
          <p:cNvPr id="3" name="Text 1"/>
          <p:cNvSpPr txBox="1"/>
          <p:nvPr/>
        </p:nvSpPr>
        <p:spPr>
          <a:xfrm>
            <a:off x="685800" y="1005840"/>
            <a:ext cx="10789920" cy="640080"/>
          </a:xfrm>
          <a:prstGeom prst="rect">
            <a:avLst/>
          </a:prstGeom>
          <a:noFill/>
          <a:ln/>
        </p:spPr>
        <p:txBody>
          <a:bodyPr wrap="square" lIns="0" tIns="0" rIns="0" bIns="0" rtlCol="0" anchor="t"/>
          <a:lstStyle/>
          <a:p>
            <a:pPr indent="0" marL="0">
              <a:lnSpc>
                <a:spcPct val="100000"/>
              </a:lnSpc>
              <a:buNone/>
            </a:pPr>
            <a:r>
              <a:rPr lang="en-US" sz="3100" b="1" spc="50" kern="0" dirty="0">
                <a:solidFill>
                  <a:srgbClr val="FFFFFF"/>
                </a:solidFill>
                <a:latin typeface="Arial" pitchFamily="34" charset="0"/>
                <a:ea typeface="Arial" pitchFamily="34" charset="-122"/>
                <a:cs typeface="Arial" pitchFamily="34" charset="-120"/>
              </a:rPr>
              <a:t>You asked for six changes. All six are live.</a:t>
            </a:r>
            <a:endParaRPr lang="en-US" sz="3100" dirty="0"/>
          </a:p>
        </p:txBody>
      </p:sp>
      <p:sp>
        <p:nvSpPr>
          <p:cNvPr id="4" name="Shape 2"/>
          <p:cNvSpPr/>
          <p:nvPr/>
        </p:nvSpPr>
        <p:spPr>
          <a:xfrm>
            <a:off x="685800" y="1828800"/>
            <a:ext cx="1463040" cy="32004"/>
          </a:xfrm>
          <a:prstGeom prst="rect">
            <a:avLst/>
          </a:prstGeom>
          <a:solidFill>
            <a:srgbClr val="C32C26"/>
          </a:solidFill>
          <a:ln/>
        </p:spPr>
      </p:sp>
      <p:sp>
        <p:nvSpPr>
          <p:cNvPr id="5" name="Text 3"/>
          <p:cNvSpPr txBox="1"/>
          <p:nvPr/>
        </p:nvSpPr>
        <p:spPr>
          <a:xfrm>
            <a:off x="685800" y="223113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1</a:t>
            </a:r>
            <a:endParaRPr lang="en-US" sz="3000" dirty="0"/>
          </a:p>
        </p:txBody>
      </p:sp>
      <p:sp>
        <p:nvSpPr>
          <p:cNvPr id="6" name="Text 4"/>
          <p:cNvSpPr txBox="1"/>
          <p:nvPr/>
        </p:nvSpPr>
        <p:spPr>
          <a:xfrm>
            <a:off x="1417320" y="228600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Make it simpler</a:t>
            </a:r>
            <a:endParaRPr lang="en-US" sz="1600" dirty="0"/>
          </a:p>
        </p:txBody>
      </p:sp>
      <p:sp>
        <p:nvSpPr>
          <p:cNvPr id="7" name="Text 5"/>
          <p:cNvSpPr txBox="1"/>
          <p:nvPr/>
        </p:nvSpPr>
        <p:spPr>
          <a:xfrm>
            <a:off x="1417320" y="261518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Eight service pages became two. Home page cut from 13 sections to 8.</a:t>
            </a:r>
            <a:endParaRPr lang="en-US" sz="1350" dirty="0"/>
          </a:p>
        </p:txBody>
      </p:sp>
      <p:sp>
        <p:nvSpPr>
          <p:cNvPr id="8" name="Text 6"/>
          <p:cNvSpPr txBox="1"/>
          <p:nvPr/>
        </p:nvSpPr>
        <p:spPr>
          <a:xfrm>
            <a:off x="6263640" y="223113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2</a:t>
            </a:r>
            <a:endParaRPr lang="en-US" sz="3000" dirty="0"/>
          </a:p>
        </p:txBody>
      </p:sp>
      <p:sp>
        <p:nvSpPr>
          <p:cNvPr id="9" name="Text 7"/>
          <p:cNvSpPr txBox="1"/>
          <p:nvPr/>
        </p:nvSpPr>
        <p:spPr>
          <a:xfrm>
            <a:off x="6995160" y="228600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Stop making it about Rochester</a:t>
            </a:r>
            <a:endParaRPr lang="en-US" sz="1600" dirty="0"/>
          </a:p>
        </p:txBody>
      </p:sp>
      <p:sp>
        <p:nvSpPr>
          <p:cNvPr id="10" name="Text 8"/>
          <p:cNvSpPr txBox="1"/>
          <p:nvPr/>
        </p:nvSpPr>
        <p:spPr>
          <a:xfrm>
            <a:off x="6995160" y="261518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Two Rochester pages became seven counties and 27 named cities.</a:t>
            </a:r>
            <a:endParaRPr lang="en-US" sz="1350" dirty="0"/>
          </a:p>
        </p:txBody>
      </p:sp>
      <p:sp>
        <p:nvSpPr>
          <p:cNvPr id="11" name="Text 9"/>
          <p:cNvSpPr txBox="1"/>
          <p:nvPr/>
        </p:nvSpPr>
        <p:spPr>
          <a:xfrm>
            <a:off x="685800" y="364845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3</a:t>
            </a:r>
            <a:endParaRPr lang="en-US" sz="3000" dirty="0"/>
          </a:p>
        </p:txBody>
      </p:sp>
      <p:sp>
        <p:nvSpPr>
          <p:cNvPr id="12" name="Text 10"/>
          <p:cNvSpPr txBox="1"/>
          <p:nvPr/>
        </p:nvSpPr>
        <p:spPr>
          <a:xfrm>
            <a:off x="1417320" y="370332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Demolition is a real service, not "light"</a:t>
            </a:r>
            <a:endParaRPr lang="en-US" sz="1600" dirty="0"/>
          </a:p>
        </p:txBody>
      </p:sp>
      <p:sp>
        <p:nvSpPr>
          <p:cNvPr id="13" name="Text 11"/>
          <p:cNvSpPr txBox="1"/>
          <p:nvPr/>
        </p:nvSpPr>
        <p:spPr>
          <a:xfrm>
            <a:off x="1417320" y="403250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Promoted to a full service line, licensed and insured, up to full teardowns.</a:t>
            </a:r>
            <a:endParaRPr lang="en-US" sz="1350" dirty="0"/>
          </a:p>
        </p:txBody>
      </p:sp>
      <p:sp>
        <p:nvSpPr>
          <p:cNvPr id="14" name="Text 12"/>
          <p:cNvSpPr txBox="1"/>
          <p:nvPr/>
        </p:nvSpPr>
        <p:spPr>
          <a:xfrm>
            <a:off x="6263640" y="364845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4</a:t>
            </a:r>
            <a:endParaRPr lang="en-US" sz="3000" dirty="0"/>
          </a:p>
        </p:txBody>
      </p:sp>
      <p:sp>
        <p:nvSpPr>
          <p:cNvPr id="15" name="Text 13"/>
          <p:cNvSpPr txBox="1"/>
          <p:nvPr/>
        </p:nvSpPr>
        <p:spPr>
          <a:xfrm>
            <a:off x="6995160" y="370332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Just show the photos</a:t>
            </a:r>
            <a:endParaRPr lang="en-US" sz="1600" dirty="0"/>
          </a:p>
        </p:txBody>
      </p:sp>
      <p:sp>
        <p:nvSpPr>
          <p:cNvPr id="16" name="Text 14"/>
          <p:cNvSpPr txBox="1"/>
          <p:nvPr/>
        </p:nvSpPr>
        <p:spPr>
          <a:xfrm>
            <a:off x="6995160" y="403250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/projects is now one clean gallery of all 32 photos — no per-project pages.</a:t>
            </a:r>
            <a:endParaRPr lang="en-US" sz="1350" dirty="0"/>
          </a:p>
        </p:txBody>
      </p:sp>
      <p:sp>
        <p:nvSpPr>
          <p:cNvPr id="17" name="Text 15"/>
          <p:cNvSpPr txBox="1"/>
          <p:nvPr/>
        </p:nvSpPr>
        <p:spPr>
          <a:xfrm>
            <a:off x="685800" y="506577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5</a:t>
            </a:r>
            <a:endParaRPr lang="en-US" sz="3000" dirty="0"/>
          </a:p>
        </p:txBody>
      </p:sp>
      <p:sp>
        <p:nvSpPr>
          <p:cNvPr id="18" name="Text 16"/>
          <p:cNvSpPr txBox="1"/>
          <p:nvPr/>
        </p:nvSpPr>
        <p:spPr>
          <a:xfrm>
            <a:off x="1417320" y="512064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Quote the way we actually quote</a:t>
            </a:r>
            <a:endParaRPr lang="en-US" sz="1600" dirty="0"/>
          </a:p>
        </p:txBody>
      </p:sp>
      <p:sp>
        <p:nvSpPr>
          <p:cNvPr id="19" name="Text 17"/>
          <p:cNvSpPr txBox="1"/>
          <p:nvPr/>
        </p:nvSpPr>
        <p:spPr>
          <a:xfrm>
            <a:off x="1417320" y="544982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Ballpark from photos over the phone; the real number given on site, in person.</a:t>
            </a:r>
            <a:endParaRPr lang="en-US" sz="1350" dirty="0"/>
          </a:p>
        </p:txBody>
      </p:sp>
      <p:sp>
        <p:nvSpPr>
          <p:cNvPr id="20" name="Text 18"/>
          <p:cNvSpPr txBox="1"/>
          <p:nvPr/>
        </p:nvSpPr>
        <p:spPr>
          <a:xfrm>
            <a:off x="6263640" y="506577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6</a:t>
            </a:r>
            <a:endParaRPr lang="en-US" sz="3000" dirty="0"/>
          </a:p>
        </p:txBody>
      </p:sp>
      <p:sp>
        <p:nvSpPr>
          <p:cNvPr id="21" name="Text 19"/>
          <p:cNvSpPr txBox="1"/>
          <p:nvPr/>
        </p:nvSpPr>
        <p:spPr>
          <a:xfrm>
            <a:off x="6995160" y="5120640"/>
            <a:ext cx="429768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Lead with the slogan</a:t>
            </a:r>
            <a:endParaRPr lang="en-US" sz="1600" dirty="0"/>
          </a:p>
        </p:txBody>
      </p:sp>
      <p:sp>
        <p:nvSpPr>
          <p:cNvPr id="22" name="Text 20"/>
          <p:cNvSpPr txBox="1"/>
          <p:nvPr/>
        </p:nvSpPr>
        <p:spPr>
          <a:xfrm>
            <a:off x="6995160" y="5449824"/>
            <a:ext cx="429768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"Redeem Your Property. Redeem Your Space." is the home page headline.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E1D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THE PART NOBODY SEES</a:t>
            </a:r>
            <a:endParaRPr lang="en-US" sz="1100" dirty="0"/>
          </a:p>
        </p:txBody>
      </p:sp>
      <p:sp>
        <p:nvSpPr>
          <p:cNvPr id="3" name="Text 1"/>
          <p:cNvSpPr txBox="1"/>
          <p:nvPr/>
        </p:nvSpPr>
        <p:spPr>
          <a:xfrm>
            <a:off x="685800" y="1005840"/>
            <a:ext cx="10789920" cy="1280160"/>
          </a:xfrm>
          <a:prstGeom prst="rect">
            <a:avLst/>
          </a:prstGeom>
          <a:noFill/>
          <a:ln/>
        </p:spPr>
        <p:txBody>
          <a:bodyPr wrap="square" lIns="0" tIns="0" rIns="0" bIns="0" rtlCol="0" anchor="t"/>
          <a:lstStyle/>
          <a:p>
            <a:pPr indent="0" marL="0">
              <a:lnSpc>
                <a:spcPct val="100000"/>
              </a:lnSpc>
              <a:buNone/>
            </a:pPr>
            <a:r>
              <a:rPr lang="en-US" sz="3000" b="1" spc="50" kern="0" dirty="0">
                <a:solidFill>
                  <a:srgbClr val="0B0D0E"/>
                </a:solidFill>
                <a:latin typeface="Arial" pitchFamily="34" charset="0"/>
                <a:ea typeface="Arial" pitchFamily="34" charset="-122"/>
                <a:cs typeface="Arial" pitchFamily="34" charset="-120"/>
              </a:rPr>
              <a:t>Removing pages is where most sites quietly</a:t>
            </a:r>
            <a:endParaRPr lang="en-US" sz="3000" dirty="0"/>
          </a:p>
          <a:p>
            <a:pPr indent="0" marL="0">
              <a:lnSpc>
                <a:spcPct val="100000"/>
              </a:lnSpc>
              <a:buNone/>
            </a:pPr>
            <a:r>
              <a:rPr lang="en-US" sz="3000" b="1" spc="50" kern="0" dirty="0">
                <a:solidFill>
                  <a:srgbClr val="0B0D0E"/>
                </a:solidFill>
                <a:latin typeface="Arial" pitchFamily="34" charset="0"/>
                <a:ea typeface="Arial" pitchFamily="34" charset="-122"/>
                <a:cs typeface="Arial" pitchFamily="34" charset="-120"/>
              </a:rPr>
              <a:t>lose their Google ranking. This one didn't.</a:t>
            </a:r>
            <a:endParaRPr lang="en-US" sz="3000" dirty="0"/>
          </a:p>
        </p:txBody>
      </p:sp>
      <p:sp>
        <p:nvSpPr>
          <p:cNvPr id="4" name="Shape 2"/>
          <p:cNvSpPr/>
          <p:nvPr/>
        </p:nvSpPr>
        <p:spPr>
          <a:xfrm>
            <a:off x="685800" y="2423160"/>
            <a:ext cx="1463040" cy="32004"/>
          </a:xfrm>
          <a:prstGeom prst="rect">
            <a:avLst/>
          </a:prstGeom>
          <a:solidFill>
            <a:srgbClr val="C32C26"/>
          </a:solidFill>
          <a:ln/>
        </p:spPr>
      </p:sp>
      <p:sp>
        <p:nvSpPr>
          <p:cNvPr id="5" name="Text 3"/>
          <p:cNvSpPr txBox="1"/>
          <p:nvPr/>
        </p:nvSpPr>
        <p:spPr>
          <a:xfrm>
            <a:off x="685800" y="2697480"/>
            <a:ext cx="6035040" cy="128016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When a page disappears, every link pointing at it — and everything Google learned about it — normally dies with it. Every retired page here permanently forwards to the page that replaced it, so the old address still works and the credit carries over.</a:t>
            </a:r>
            <a:endParaRPr lang="en-US" sz="1500" dirty="0"/>
          </a:p>
        </p:txBody>
      </p:sp>
      <p:sp>
        <p:nvSpPr>
          <p:cNvPr id="6" name="Text 4"/>
          <p:cNvSpPr txBox="1"/>
          <p:nvPr/>
        </p:nvSpPr>
        <p:spPr>
          <a:xfrm>
            <a:off x="685800" y="4206240"/>
            <a:ext cx="283464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17</a:t>
            </a:r>
            <a:endParaRPr lang="en-US" sz="5600" dirty="0"/>
          </a:p>
        </p:txBody>
      </p:sp>
      <p:sp>
        <p:nvSpPr>
          <p:cNvPr id="7" name="Text 5"/>
          <p:cNvSpPr txBox="1"/>
          <p:nvPr/>
        </p:nvSpPr>
        <p:spPr>
          <a:xfrm>
            <a:off x="685800" y="5138928"/>
            <a:ext cx="283464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OLD ADDRESSES</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PERMANENTLY FORWARDED</a:t>
            </a:r>
            <a:endParaRPr lang="en-US" sz="1100" dirty="0"/>
          </a:p>
        </p:txBody>
      </p:sp>
      <p:sp>
        <p:nvSpPr>
          <p:cNvPr id="8" name="Text 6"/>
          <p:cNvSpPr txBox="1"/>
          <p:nvPr/>
        </p:nvSpPr>
        <p:spPr>
          <a:xfrm>
            <a:off x="3794760" y="4206240"/>
            <a:ext cx="283464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0</a:t>
            </a:r>
            <a:endParaRPr lang="en-US" sz="5600" dirty="0"/>
          </a:p>
        </p:txBody>
      </p:sp>
      <p:sp>
        <p:nvSpPr>
          <p:cNvPr id="9" name="Text 7"/>
          <p:cNvSpPr txBox="1"/>
          <p:nvPr/>
        </p:nvSpPr>
        <p:spPr>
          <a:xfrm>
            <a:off x="3794760" y="5138928"/>
            <a:ext cx="283464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DEAD LINKS OR</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404 PAGES</a:t>
            </a:r>
            <a:endParaRPr lang="en-US" sz="1100" dirty="0"/>
          </a:p>
        </p:txBody>
      </p:sp>
      <p:sp>
        <p:nvSpPr>
          <p:cNvPr id="10" name="Shape 8"/>
          <p:cNvSpPr/>
          <p:nvPr/>
        </p:nvSpPr>
        <p:spPr>
          <a:xfrm>
            <a:off x="7040880" y="2697480"/>
            <a:ext cx="4434840" cy="2880360"/>
          </a:xfrm>
          <a:prstGeom prst="rect">
            <a:avLst/>
          </a:prstGeom>
          <a:solidFill>
            <a:srgbClr val="FFFFFF"/>
          </a:solidFill>
          <a:ln/>
        </p:spPr>
      </p:sp>
      <p:sp>
        <p:nvSpPr>
          <p:cNvPr id="11" name="Text 9"/>
          <p:cNvSpPr txBox="1"/>
          <p:nvPr/>
        </p:nvSpPr>
        <p:spPr>
          <a:xfrm>
            <a:off x="7360920" y="2971800"/>
            <a:ext cx="384048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EXAMPLES</a:t>
            </a:r>
            <a:endParaRPr lang="en-US" sz="1000" dirty="0"/>
          </a:p>
        </p:txBody>
      </p:sp>
      <p:sp>
        <p:nvSpPr>
          <p:cNvPr id="12" name="Text 10"/>
          <p:cNvSpPr txBox="1"/>
          <p:nvPr/>
        </p:nvSpPr>
        <p:spPr>
          <a:xfrm>
            <a:off x="7360920" y="3383280"/>
            <a:ext cx="3840480" cy="2377440"/>
          </a:xfrm>
          <a:prstGeom prst="rect">
            <a:avLst/>
          </a:prstGeom>
          <a:noFill/>
          <a:ln/>
        </p:spPr>
        <p:txBody>
          <a:bodyPr wrap="square" lIns="0" tIns="0" rIns="0" bIns="0" rtlCol="0" anchor="t"/>
          <a:lstStyle/>
          <a:p>
            <a:pPr indent="0" marL="0">
              <a:buNone/>
            </a:pPr>
            <a:r>
              <a:rPr lang="en-US" sz="1200" dirty="0">
                <a:solidFill>
                  <a:srgbClr val="0B0D0E"/>
                </a:solidFill>
                <a:latin typeface="Calibri" pitchFamily="34" charset="0"/>
                <a:ea typeface="Calibri" pitchFamily="34" charset="-122"/>
                <a:cs typeface="Calibri" pitchFamily="34" charset="-120"/>
              </a:rPr>
              <a:t>/services/estate-cleanouts</a:t>
            </a:r>
            <a:endParaRPr lang="en-US" sz="1200" dirty="0"/>
          </a:p>
          <a:p>
            <a:pPr indent="0" marL="0">
              <a:spcAft>
                <a:spcPts val="1000"/>
              </a:spcAft>
              <a:buNone/>
            </a:pPr>
            <a:r>
              <a:rPr lang="en-US" sz="1200" dirty="0">
                <a:solidFill>
                  <a:srgbClr val="605F5D"/>
                </a:solidFill>
                <a:latin typeface="Calibri" pitchFamily="34" charset="0"/>
                <a:ea typeface="Calibri" pitchFamily="34" charset="-122"/>
                <a:cs typeface="Calibri" pitchFamily="34" charset="-120"/>
              </a:rPr>
              <a:t>→  full-property-cleanouts #estate</a:t>
            </a:r>
            <a:endParaRPr lang="en-US" sz="1200" dirty="0"/>
          </a:p>
          <a:p>
            <a:pPr indent="0" marL="0">
              <a:buNone/>
            </a:pPr>
            <a:r>
              <a:rPr lang="en-US" sz="1200" dirty="0">
                <a:solidFill>
                  <a:srgbClr val="0B0D0E"/>
                </a:solidFill>
                <a:latin typeface="Calibri" pitchFamily="34" charset="0"/>
                <a:ea typeface="Calibri" pitchFamily="34" charset="-122"/>
                <a:cs typeface="Calibri" pitchFamily="34" charset="-120"/>
              </a:rPr>
              <a:t>/services/light-demolition</a:t>
            </a:r>
            <a:endParaRPr lang="en-US" sz="1200" dirty="0"/>
          </a:p>
          <a:p>
            <a:pPr indent="0" marL="0">
              <a:spcAft>
                <a:spcPts val="1000"/>
              </a:spcAft>
              <a:buNone/>
            </a:pPr>
            <a:r>
              <a:rPr lang="en-US" sz="1200" dirty="0">
                <a:solidFill>
                  <a:srgbClr val="605F5D"/>
                </a:solidFill>
                <a:latin typeface="Calibri" pitchFamily="34" charset="0"/>
                <a:ea typeface="Calibri" pitchFamily="34" charset="-122"/>
                <a:cs typeface="Calibri" pitchFamily="34" charset="-120"/>
              </a:rPr>
              <a:t>→  /services/demolition</a:t>
            </a:r>
            <a:endParaRPr lang="en-US" sz="1200" dirty="0"/>
          </a:p>
          <a:p>
            <a:pPr indent="0" marL="0">
              <a:buNone/>
            </a:pPr>
            <a:r>
              <a:rPr lang="en-US" sz="1200" dirty="0">
                <a:solidFill>
                  <a:srgbClr val="0B0D0E"/>
                </a:solidFill>
                <a:latin typeface="Calibri" pitchFamily="34" charset="0"/>
                <a:ea typeface="Calibri" pitchFamily="34" charset="-122"/>
                <a:cs typeface="Calibri" pitchFamily="34" charset="-120"/>
              </a:rPr>
              <a:t>/who-we-serve/realtors</a:t>
            </a:r>
            <a:endParaRPr lang="en-US" sz="1200" dirty="0"/>
          </a:p>
          <a:p>
            <a:pPr indent="0" marL="0">
              <a:spcAft>
                <a:spcPts val="1000"/>
              </a:spcAft>
              <a:buNone/>
            </a:pPr>
            <a:r>
              <a:rPr lang="en-US" sz="1200" dirty="0">
                <a:solidFill>
                  <a:srgbClr val="605F5D"/>
                </a:solidFill>
                <a:latin typeface="Calibri" pitchFamily="34" charset="0"/>
                <a:ea typeface="Calibri" pitchFamily="34" charset="-122"/>
                <a:cs typeface="Calibri" pitchFamily="34" charset="-120"/>
              </a:rPr>
              <a:t>→  /services/full-property-cleanouts</a:t>
            </a:r>
            <a:endParaRPr lang="en-US" sz="1200" dirty="0"/>
          </a:p>
          <a:p>
            <a:pPr indent="0" marL="0">
              <a:buNone/>
            </a:pPr>
            <a:r>
              <a:rPr lang="en-US" sz="1200" dirty="0">
                <a:solidFill>
                  <a:srgbClr val="0B0D0E"/>
                </a:solidFill>
                <a:latin typeface="Calibri" pitchFamily="34" charset="0"/>
                <a:ea typeface="Calibri" pitchFamily="34" charset="-122"/>
                <a:cs typeface="Calibri" pitchFamily="34" charset="-120"/>
              </a:rPr>
              <a:t>/service-areas/rochester-mi</a:t>
            </a:r>
            <a:endParaRPr lang="en-US" sz="1200" dirty="0"/>
          </a:p>
          <a:p>
            <a:pPr indent="0" marL="0">
              <a:buNone/>
            </a:pPr>
            <a:r>
              <a:rPr lang="en-US" sz="1200" dirty="0">
                <a:solidFill>
                  <a:srgbClr val="605F5D"/>
                </a:solidFill>
                <a:latin typeface="Calibri" pitchFamily="34" charset="0"/>
                <a:ea typeface="Calibri" pitchFamily="34" charset="-122"/>
                <a:cs typeface="Calibri" pitchFamily="34" charset="-120"/>
              </a:rPr>
              <a:t>→  oakland-county-mi/rochester-mi</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WHAT YOU SELL, IN TWO PAGES</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200" b="1" spc="50" kern="0" dirty="0">
                <a:solidFill>
                  <a:srgbClr val="0B0D0E"/>
                </a:solidFill>
                <a:latin typeface="Arial" pitchFamily="34" charset="0"/>
                <a:ea typeface="Arial" pitchFamily="34" charset="-122"/>
                <a:cs typeface="Arial" pitchFamily="34" charset="-120"/>
              </a:rPr>
              <a:t>Two services, not eight.</a:t>
            </a:r>
            <a:endParaRPr lang="en-US" sz="3200" dirty="0"/>
          </a:p>
        </p:txBody>
      </p:sp>
      <p:sp>
        <p:nvSpPr>
          <p:cNvPr id="4" name="Shape 2"/>
          <p:cNvSpPr/>
          <p:nvPr/>
        </p:nvSpPr>
        <p:spPr>
          <a:xfrm>
            <a:off x="685800" y="1737360"/>
            <a:ext cx="1463040" cy="32004"/>
          </a:xfrm>
          <a:prstGeom prst="rect">
            <a:avLst/>
          </a:prstGeom>
          <a:solidFill>
            <a:srgbClr val="C32C26"/>
          </a:solidFill>
          <a:ln/>
        </p:spPr>
      </p:sp>
      <p:pic>
        <p:nvPicPr>
          <p:cNvPr id="5" name="Image 0" descr="/tmp/claude-0/-home-user-Redemption-Cleaout/6c436b38-4a00-5a84-b2a4-cdf94e186ff0/scratchpad/deck/full-property-cleanout-removal.jpg">    </p:cNvPr>
          <p:cNvPicPr>
            <a:picLocks noChangeAspect="1"/>
          </p:cNvPicPr>
          <p:nvPr/>
        </p:nvPicPr>
        <p:blipFill>
          <a:blip r:embed="rId1"/>
          <a:srcRect l="0" r="0" t="0" b="0"/>
          <a:stretch/>
        </p:blipFill>
        <p:spPr>
          <a:xfrm>
            <a:off x="685800" y="2148840"/>
            <a:ext cx="5029200" cy="2194560"/>
          </a:xfrm>
          <a:prstGeom prst="rect">
            <a:avLst/>
          </a:prstGeom>
        </p:spPr>
      </p:pic>
      <p:sp>
        <p:nvSpPr>
          <p:cNvPr id="6" name="Text 3"/>
          <p:cNvSpPr txBox="1"/>
          <p:nvPr/>
        </p:nvSpPr>
        <p:spPr>
          <a:xfrm>
            <a:off x="685800" y="4498848"/>
            <a:ext cx="5029200" cy="274320"/>
          </a:xfrm>
          <a:prstGeom prst="rect">
            <a:avLst/>
          </a:prstGeom>
          <a:noFill/>
          <a:ln/>
        </p:spPr>
        <p:txBody>
          <a:bodyPr wrap="square" lIns="0" tIns="0" rIns="0" bIns="0" rtlCol="0" anchor="ctr"/>
          <a:lstStyle/>
          <a:p>
            <a:pPr indent="0" marL="0">
              <a:buNone/>
            </a:pPr>
            <a:r>
              <a:rPr lang="en-US" sz="1500" b="1" spc="100" kern="0" dirty="0">
                <a:solidFill>
                  <a:srgbClr val="0B0D0E"/>
                </a:solidFill>
                <a:latin typeface="Arial" pitchFamily="34" charset="0"/>
                <a:ea typeface="Arial" pitchFamily="34" charset="-122"/>
                <a:cs typeface="Arial" pitchFamily="34" charset="-120"/>
              </a:rPr>
              <a:t>FULL PROPERTY CLEANOUTS</a:t>
            </a:r>
            <a:endParaRPr lang="en-US" sz="1500" dirty="0"/>
          </a:p>
        </p:txBody>
      </p:sp>
      <p:sp>
        <p:nvSpPr>
          <p:cNvPr id="7" name="Text 4"/>
          <p:cNvSpPr txBox="1"/>
          <p:nvPr/>
        </p:nvSpPr>
        <p:spPr>
          <a:xfrm>
            <a:off x="685800" y="4864608"/>
            <a:ext cx="5029200" cy="1600200"/>
          </a:xfrm>
          <a:prstGeom prst="rect">
            <a:avLst/>
          </a:prstGeom>
          <a:noFill/>
          <a:ln/>
        </p:spPr>
        <p:txBody>
          <a:bodyPr wrap="square" lIns="0" tIns="0" rIns="0" bIns="0" rtlCol="0" anchor="t"/>
          <a:lstStyle/>
          <a:p>
            <a:pPr algn="l" indent="0" marL="0">
              <a:lnSpc>
                <a:spcPct val="125000"/>
              </a:lnSpc>
              <a:buNone/>
            </a:pPr>
            <a:r>
              <a:rPr lang="en-US" sz="1300" dirty="0">
                <a:solidFill>
                  <a:srgbClr val="605F5D"/>
                </a:solidFill>
                <a:latin typeface="Calibri" pitchFamily="34" charset="0"/>
                <a:ea typeface="Calibri" pitchFamily="34" charset="-122"/>
                <a:cs typeface="Calibri" pitchFamily="34" charset="-120"/>
              </a:rPr>
              <a:t>Estate · Foreclosure · Commercial · Severe clutter · Move-out · Junk removal</a:t>
            </a:r>
            <a:endParaRPr lang="en-US" sz="1300" dirty="0"/>
          </a:p>
          <a:p>
            <a:pPr algn="l" indent="0" marL="0">
              <a:lnSpc>
                <a:spcPct val="125000"/>
              </a:lnSpc>
              <a:buNone/>
            </a:pPr>
            <a:endParaRPr lang="en-US" sz="1300" dirty="0"/>
          </a:p>
          <a:p>
            <a:pPr algn="l" indent="0" marL="0">
              <a:lnSpc>
                <a:spcPct val="125000"/>
              </a:lnSpc>
              <a:buNone/>
            </a:pPr>
            <a:r>
              <a:rPr lang="en-US" sz="1300" dirty="0">
                <a:solidFill>
                  <a:srgbClr val="605F5D"/>
                </a:solidFill>
                <a:latin typeface="Calibri" pitchFamily="34" charset="0"/>
                <a:ea typeface="Calibri" pitchFamily="34" charset="-122"/>
                <a:cs typeface="Calibri" pitchFamily="34" charset="-120"/>
              </a:rPr>
              <a:t>Each is its own section on one page, so a searcher lands on the exact kind of job they have — without you maintaining six pages.</a:t>
            </a:r>
            <a:endParaRPr lang="en-US" sz="1300" dirty="0"/>
          </a:p>
        </p:txBody>
      </p:sp>
      <p:pic>
        <p:nvPicPr>
          <p:cNvPr id="8" name="Image 1" descr="/tmp/claude-0/-home-user-Redemption-Cleaout/6c436b38-4a00-5a84-b2a4-cdf94e186ff0/scratchpad/deck/demolition-teardown-after-01.jpg">    </p:cNvPr>
          <p:cNvPicPr>
            <a:picLocks noChangeAspect="1"/>
          </p:cNvPicPr>
          <p:nvPr/>
        </p:nvPicPr>
        <p:blipFill>
          <a:blip r:embed="rId2"/>
          <a:srcRect l="0" r="0" t="0" b="0"/>
          <a:stretch/>
        </p:blipFill>
        <p:spPr>
          <a:xfrm>
            <a:off x="6492240" y="2148840"/>
            <a:ext cx="5029200" cy="2194560"/>
          </a:xfrm>
          <a:prstGeom prst="rect">
            <a:avLst/>
          </a:prstGeom>
        </p:spPr>
      </p:pic>
      <p:sp>
        <p:nvSpPr>
          <p:cNvPr id="9" name="Text 5"/>
          <p:cNvSpPr txBox="1"/>
          <p:nvPr/>
        </p:nvSpPr>
        <p:spPr>
          <a:xfrm>
            <a:off x="6492240" y="4498848"/>
            <a:ext cx="5029200" cy="274320"/>
          </a:xfrm>
          <a:prstGeom prst="rect">
            <a:avLst/>
          </a:prstGeom>
          <a:noFill/>
          <a:ln/>
        </p:spPr>
        <p:txBody>
          <a:bodyPr wrap="square" lIns="0" tIns="0" rIns="0" bIns="0" rtlCol="0" anchor="ctr"/>
          <a:lstStyle/>
          <a:p>
            <a:pPr indent="0" marL="0">
              <a:buNone/>
            </a:pPr>
            <a:r>
              <a:rPr lang="en-US" sz="1500" b="1" spc="100" kern="0" dirty="0">
                <a:solidFill>
                  <a:srgbClr val="0B0D0E"/>
                </a:solidFill>
                <a:latin typeface="Arial" pitchFamily="34" charset="0"/>
                <a:ea typeface="Arial" pitchFamily="34" charset="-122"/>
                <a:cs typeface="Arial" pitchFamily="34" charset="-120"/>
              </a:rPr>
              <a:t>DEMOLITION</a:t>
            </a:r>
            <a:endParaRPr lang="en-US" sz="1500" dirty="0"/>
          </a:p>
        </p:txBody>
      </p:sp>
      <p:sp>
        <p:nvSpPr>
          <p:cNvPr id="10" name="Text 6"/>
          <p:cNvSpPr txBox="1"/>
          <p:nvPr/>
        </p:nvSpPr>
        <p:spPr>
          <a:xfrm>
            <a:off x="6492240" y="4864608"/>
            <a:ext cx="5029200" cy="1600200"/>
          </a:xfrm>
          <a:prstGeom prst="rect">
            <a:avLst/>
          </a:prstGeom>
          <a:noFill/>
          <a:ln/>
        </p:spPr>
        <p:txBody>
          <a:bodyPr wrap="square" lIns="0" tIns="0" rIns="0" bIns="0" rtlCol="0" anchor="t"/>
          <a:lstStyle/>
          <a:p>
            <a:pPr algn="l" indent="0" marL="0">
              <a:lnSpc>
                <a:spcPct val="125000"/>
              </a:lnSpc>
              <a:buNone/>
            </a:pPr>
            <a:r>
              <a:rPr lang="en-US" sz="1300" dirty="0">
                <a:solidFill>
                  <a:srgbClr val="605F5D"/>
                </a:solidFill>
                <a:latin typeface="Calibri" pitchFamily="34" charset="0"/>
                <a:ea typeface="Calibri" pitchFamily="34" charset="-122"/>
                <a:cs typeface="Calibri" pitchFamily="34" charset="-120"/>
              </a:rPr>
              <a:t>Interior gut-outs · Garages · Decks · Sheds · Pole barns · Concrete · Full structure teardowns</a:t>
            </a:r>
            <a:endParaRPr lang="en-US" sz="1300" dirty="0"/>
          </a:p>
          <a:p>
            <a:pPr algn="l" indent="0" marL="0">
              <a:lnSpc>
                <a:spcPct val="125000"/>
              </a:lnSpc>
              <a:buNone/>
            </a:pPr>
            <a:endParaRPr lang="en-US" sz="1300" dirty="0"/>
          </a:p>
          <a:p>
            <a:pPr algn="l" indent="0" marL="0">
              <a:lnSpc>
                <a:spcPct val="125000"/>
              </a:lnSpc>
              <a:buNone/>
            </a:pPr>
            <a:r>
              <a:rPr lang="en-US" sz="1300" dirty="0">
                <a:solidFill>
                  <a:srgbClr val="605F5D"/>
                </a:solidFill>
                <a:latin typeface="Calibri" pitchFamily="34" charset="0"/>
                <a:ea typeface="Calibri" pitchFamily="34" charset="-122"/>
                <a:cs typeface="Calibri" pitchFamily="34" charset="-120"/>
              </a:rPr>
              <a:t>No longer "light demolition" anywhere on the site, and the old URL forwards to the new page.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0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COVERAGE</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200" b="1" spc="50" kern="0" dirty="0">
                <a:solidFill>
                  <a:srgbClr val="FFFFFF"/>
                </a:solidFill>
                <a:latin typeface="Arial" pitchFamily="34" charset="0"/>
                <a:ea typeface="Arial" pitchFamily="34" charset="-122"/>
                <a:cs typeface="Arial" pitchFamily="34" charset="-120"/>
              </a:rPr>
              <a:t>All seven Metro Detroit counties.</a:t>
            </a:r>
            <a:endParaRPr lang="en-US" sz="3200" dirty="0"/>
          </a:p>
        </p:txBody>
      </p:sp>
      <p:sp>
        <p:nvSpPr>
          <p:cNvPr id="4" name="Shape 2"/>
          <p:cNvSpPr/>
          <p:nvPr/>
        </p:nvSpPr>
        <p:spPr>
          <a:xfrm>
            <a:off x="685800" y="1737360"/>
            <a:ext cx="1463040" cy="32004"/>
          </a:xfrm>
          <a:prstGeom prst="rect">
            <a:avLst/>
          </a:prstGeom>
          <a:solidFill>
            <a:srgbClr val="C32C26"/>
          </a:solidFill>
          <a:ln/>
        </p:spPr>
      </p:sp>
      <p:sp>
        <p:nvSpPr>
          <p:cNvPr id="5" name="Text 3"/>
          <p:cNvSpPr txBox="1"/>
          <p:nvPr/>
        </p:nvSpPr>
        <p:spPr>
          <a:xfrm>
            <a:off x="685800" y="2084832"/>
            <a:ext cx="7223760" cy="731520"/>
          </a:xfrm>
          <a:prstGeom prst="rect">
            <a:avLst/>
          </a:prstGeom>
          <a:noFill/>
          <a:ln/>
        </p:spPr>
        <p:txBody>
          <a:bodyPr wrap="square" lIns="0" tIns="0" rIns="0" bIns="0" rtlCol="0" anchor="t"/>
          <a:lstStyle/>
          <a:p>
            <a:pPr algn="l" indent="0" marL="0">
              <a:lnSpc>
                <a:spcPct val="125000"/>
              </a:lnSpc>
              <a:buNone/>
            </a:pPr>
            <a:r>
              <a:rPr lang="en-US" sz="1500" dirty="0">
                <a:solidFill>
                  <a:srgbClr val="B8B5B1"/>
                </a:solidFill>
                <a:latin typeface="Calibri" pitchFamily="34" charset="0"/>
                <a:ea typeface="Calibri" pitchFamily="34" charset="-122"/>
                <a:cs typeface="Calibri" pitchFamily="34" charset="-120"/>
              </a:rPr>
              <a:t>Each one has its own page. Before your review the site claimed two cities. It now claims the area you actually serve — and says it in the places Google reads.</a:t>
            </a:r>
            <a:endParaRPr lang="en-US" sz="1500" dirty="0"/>
          </a:p>
        </p:txBody>
      </p:sp>
      <p:sp>
        <p:nvSpPr>
          <p:cNvPr id="6" name="Shape 4"/>
          <p:cNvSpPr/>
          <p:nvPr/>
        </p:nvSpPr>
        <p:spPr>
          <a:xfrm>
            <a:off x="685800" y="3337560"/>
            <a:ext cx="2514600" cy="1097280"/>
          </a:xfrm>
          <a:prstGeom prst="rect">
            <a:avLst/>
          </a:prstGeom>
          <a:solidFill>
            <a:srgbClr val="16191B"/>
          </a:solidFill>
          <a:ln/>
        </p:spPr>
      </p:sp>
      <p:sp>
        <p:nvSpPr>
          <p:cNvPr id="7" name="Text 5"/>
          <p:cNvSpPr txBox="1"/>
          <p:nvPr/>
        </p:nvSpPr>
        <p:spPr>
          <a:xfrm>
            <a:off x="914400" y="35387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OAKLAND</a:t>
            </a:r>
            <a:endParaRPr lang="en-US" sz="1500" dirty="0"/>
          </a:p>
        </p:txBody>
      </p:sp>
      <p:sp>
        <p:nvSpPr>
          <p:cNvPr id="8" name="Text 6"/>
          <p:cNvSpPr txBox="1"/>
          <p:nvPr/>
        </p:nvSpPr>
        <p:spPr>
          <a:xfrm>
            <a:off x="914400" y="39136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7 city pages</a:t>
            </a:r>
            <a:endParaRPr lang="en-US" sz="1200" dirty="0"/>
          </a:p>
        </p:txBody>
      </p:sp>
      <p:sp>
        <p:nvSpPr>
          <p:cNvPr id="9" name="Shape 7"/>
          <p:cNvSpPr/>
          <p:nvPr/>
        </p:nvSpPr>
        <p:spPr>
          <a:xfrm>
            <a:off x="3474720" y="3337560"/>
            <a:ext cx="2514600" cy="1097280"/>
          </a:xfrm>
          <a:prstGeom prst="rect">
            <a:avLst/>
          </a:prstGeom>
          <a:solidFill>
            <a:srgbClr val="16191B"/>
          </a:solidFill>
          <a:ln/>
        </p:spPr>
      </p:sp>
      <p:sp>
        <p:nvSpPr>
          <p:cNvPr id="10" name="Text 8"/>
          <p:cNvSpPr txBox="1"/>
          <p:nvPr/>
        </p:nvSpPr>
        <p:spPr>
          <a:xfrm>
            <a:off x="3703320" y="35387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WAYNE</a:t>
            </a:r>
            <a:endParaRPr lang="en-US" sz="1500" dirty="0"/>
          </a:p>
        </p:txBody>
      </p:sp>
      <p:sp>
        <p:nvSpPr>
          <p:cNvPr id="11" name="Text 9"/>
          <p:cNvSpPr txBox="1"/>
          <p:nvPr/>
        </p:nvSpPr>
        <p:spPr>
          <a:xfrm>
            <a:off x="3703320" y="39136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6 city pages</a:t>
            </a:r>
            <a:endParaRPr lang="en-US" sz="1200" dirty="0"/>
          </a:p>
        </p:txBody>
      </p:sp>
      <p:sp>
        <p:nvSpPr>
          <p:cNvPr id="12" name="Shape 10"/>
          <p:cNvSpPr/>
          <p:nvPr/>
        </p:nvSpPr>
        <p:spPr>
          <a:xfrm>
            <a:off x="6263640" y="3337560"/>
            <a:ext cx="2514600" cy="1097280"/>
          </a:xfrm>
          <a:prstGeom prst="rect">
            <a:avLst/>
          </a:prstGeom>
          <a:solidFill>
            <a:srgbClr val="16191B"/>
          </a:solidFill>
          <a:ln/>
        </p:spPr>
      </p:sp>
      <p:sp>
        <p:nvSpPr>
          <p:cNvPr id="13" name="Text 11"/>
          <p:cNvSpPr txBox="1"/>
          <p:nvPr/>
        </p:nvSpPr>
        <p:spPr>
          <a:xfrm>
            <a:off x="6492240" y="35387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MACOMB</a:t>
            </a:r>
            <a:endParaRPr lang="en-US" sz="1500" dirty="0"/>
          </a:p>
        </p:txBody>
      </p:sp>
      <p:sp>
        <p:nvSpPr>
          <p:cNvPr id="14" name="Text 12"/>
          <p:cNvSpPr txBox="1"/>
          <p:nvPr/>
        </p:nvSpPr>
        <p:spPr>
          <a:xfrm>
            <a:off x="6492240" y="39136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5 city pages</a:t>
            </a:r>
            <a:endParaRPr lang="en-US" sz="1200" dirty="0"/>
          </a:p>
        </p:txBody>
      </p:sp>
      <p:sp>
        <p:nvSpPr>
          <p:cNvPr id="15" name="Shape 13"/>
          <p:cNvSpPr/>
          <p:nvPr/>
        </p:nvSpPr>
        <p:spPr>
          <a:xfrm>
            <a:off x="9052560" y="3337560"/>
            <a:ext cx="2514600" cy="1097280"/>
          </a:xfrm>
          <a:prstGeom prst="rect">
            <a:avLst/>
          </a:prstGeom>
          <a:solidFill>
            <a:srgbClr val="16191B"/>
          </a:solidFill>
          <a:ln/>
        </p:spPr>
      </p:sp>
      <p:sp>
        <p:nvSpPr>
          <p:cNvPr id="16" name="Text 14"/>
          <p:cNvSpPr txBox="1"/>
          <p:nvPr/>
        </p:nvSpPr>
        <p:spPr>
          <a:xfrm>
            <a:off x="9281160" y="35387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WASHTENAW</a:t>
            </a:r>
            <a:endParaRPr lang="en-US" sz="1500" dirty="0"/>
          </a:p>
        </p:txBody>
      </p:sp>
      <p:sp>
        <p:nvSpPr>
          <p:cNvPr id="17" name="Text 15"/>
          <p:cNvSpPr txBox="1"/>
          <p:nvPr/>
        </p:nvSpPr>
        <p:spPr>
          <a:xfrm>
            <a:off x="9281160" y="39136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3 city pages</a:t>
            </a:r>
            <a:endParaRPr lang="en-US" sz="1200" dirty="0"/>
          </a:p>
        </p:txBody>
      </p:sp>
      <p:sp>
        <p:nvSpPr>
          <p:cNvPr id="18" name="Shape 16"/>
          <p:cNvSpPr/>
          <p:nvPr/>
        </p:nvSpPr>
        <p:spPr>
          <a:xfrm>
            <a:off x="685800" y="4709160"/>
            <a:ext cx="2514600" cy="1097280"/>
          </a:xfrm>
          <a:prstGeom prst="rect">
            <a:avLst/>
          </a:prstGeom>
          <a:solidFill>
            <a:srgbClr val="16191B"/>
          </a:solidFill>
          <a:ln/>
        </p:spPr>
      </p:sp>
      <p:sp>
        <p:nvSpPr>
          <p:cNvPr id="19" name="Text 17"/>
          <p:cNvSpPr txBox="1"/>
          <p:nvPr/>
        </p:nvSpPr>
        <p:spPr>
          <a:xfrm>
            <a:off x="914400" y="49103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LIVINGSTON</a:t>
            </a:r>
            <a:endParaRPr lang="en-US" sz="1500" dirty="0"/>
          </a:p>
        </p:txBody>
      </p:sp>
      <p:sp>
        <p:nvSpPr>
          <p:cNvPr id="20" name="Text 18"/>
          <p:cNvSpPr txBox="1"/>
          <p:nvPr/>
        </p:nvSpPr>
        <p:spPr>
          <a:xfrm>
            <a:off x="914400" y="52852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2 city pages</a:t>
            </a:r>
            <a:endParaRPr lang="en-US" sz="1200" dirty="0"/>
          </a:p>
        </p:txBody>
      </p:sp>
      <p:sp>
        <p:nvSpPr>
          <p:cNvPr id="21" name="Shape 19"/>
          <p:cNvSpPr/>
          <p:nvPr/>
        </p:nvSpPr>
        <p:spPr>
          <a:xfrm>
            <a:off x="3474720" y="4709160"/>
            <a:ext cx="2514600" cy="1097280"/>
          </a:xfrm>
          <a:prstGeom prst="rect">
            <a:avLst/>
          </a:prstGeom>
          <a:solidFill>
            <a:srgbClr val="16191B"/>
          </a:solidFill>
          <a:ln/>
        </p:spPr>
      </p:sp>
      <p:sp>
        <p:nvSpPr>
          <p:cNvPr id="22" name="Text 20"/>
          <p:cNvSpPr txBox="1"/>
          <p:nvPr/>
        </p:nvSpPr>
        <p:spPr>
          <a:xfrm>
            <a:off x="3703320" y="49103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ST. CLAIR</a:t>
            </a:r>
            <a:endParaRPr lang="en-US" sz="1500" dirty="0"/>
          </a:p>
        </p:txBody>
      </p:sp>
      <p:sp>
        <p:nvSpPr>
          <p:cNvPr id="23" name="Text 21"/>
          <p:cNvSpPr txBox="1"/>
          <p:nvPr/>
        </p:nvSpPr>
        <p:spPr>
          <a:xfrm>
            <a:off x="3703320" y="52852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2 city pages</a:t>
            </a:r>
            <a:endParaRPr lang="en-US" sz="1200" dirty="0"/>
          </a:p>
        </p:txBody>
      </p:sp>
      <p:sp>
        <p:nvSpPr>
          <p:cNvPr id="24" name="Shape 22"/>
          <p:cNvSpPr/>
          <p:nvPr/>
        </p:nvSpPr>
        <p:spPr>
          <a:xfrm>
            <a:off x="6263640" y="4709160"/>
            <a:ext cx="2514600" cy="1097280"/>
          </a:xfrm>
          <a:prstGeom prst="rect">
            <a:avLst/>
          </a:prstGeom>
          <a:solidFill>
            <a:srgbClr val="16191B"/>
          </a:solidFill>
          <a:ln/>
        </p:spPr>
      </p:sp>
      <p:sp>
        <p:nvSpPr>
          <p:cNvPr id="25" name="Text 23"/>
          <p:cNvSpPr txBox="1"/>
          <p:nvPr/>
        </p:nvSpPr>
        <p:spPr>
          <a:xfrm>
            <a:off x="6492240" y="4910328"/>
            <a:ext cx="2103120" cy="320040"/>
          </a:xfrm>
          <a:prstGeom prst="rect">
            <a:avLst/>
          </a:prstGeom>
          <a:noFill/>
          <a:ln/>
        </p:spPr>
        <p:txBody>
          <a:bodyPr wrap="square" lIns="0" tIns="0" rIns="0" bIns="0" rtlCol="0" anchor="ctr"/>
          <a:lstStyle/>
          <a:p>
            <a:pPr indent="0" marL="0">
              <a:buNone/>
            </a:pPr>
            <a:r>
              <a:rPr lang="en-US" sz="1500" b="1" spc="100" kern="0" dirty="0">
                <a:solidFill>
                  <a:srgbClr val="FFFFFF"/>
                </a:solidFill>
                <a:latin typeface="Arial" pitchFamily="34" charset="0"/>
                <a:ea typeface="Arial" pitchFamily="34" charset="-122"/>
                <a:cs typeface="Arial" pitchFamily="34" charset="-120"/>
              </a:rPr>
              <a:t>MONROE</a:t>
            </a:r>
            <a:endParaRPr lang="en-US" sz="1500" dirty="0"/>
          </a:p>
        </p:txBody>
      </p:sp>
      <p:sp>
        <p:nvSpPr>
          <p:cNvPr id="26" name="Text 24"/>
          <p:cNvSpPr txBox="1"/>
          <p:nvPr/>
        </p:nvSpPr>
        <p:spPr>
          <a:xfrm>
            <a:off x="6492240" y="5285232"/>
            <a:ext cx="2103120" cy="274320"/>
          </a:xfrm>
          <a:prstGeom prst="rect">
            <a:avLst/>
          </a:prstGeom>
          <a:noFill/>
          <a:ln/>
        </p:spPr>
        <p:txBody>
          <a:bodyPr wrap="square" lIns="0" tIns="0" rIns="0" bIns="0" rtlCol="0" anchor="ctr"/>
          <a:lstStyle/>
          <a:p>
            <a:pPr indent="0" marL="0">
              <a:buNone/>
            </a:pPr>
            <a:r>
              <a:rPr lang="en-US" sz="1200" dirty="0">
                <a:solidFill>
                  <a:srgbClr val="9A9895"/>
                </a:solidFill>
                <a:latin typeface="Calibri" pitchFamily="34" charset="0"/>
                <a:ea typeface="Calibri" pitchFamily="34" charset="-122"/>
                <a:cs typeface="Calibri" pitchFamily="34" charset="-120"/>
              </a:rPr>
              <a:t>2 city pages</a:t>
            </a:r>
            <a:endParaRPr lang="en-US" sz="1200" dirty="0"/>
          </a:p>
        </p:txBody>
      </p:sp>
      <p:sp>
        <p:nvSpPr>
          <p:cNvPr id="27" name="Text 25"/>
          <p:cNvSpPr txBox="1"/>
          <p:nvPr/>
        </p:nvSpPr>
        <p:spPr>
          <a:xfrm>
            <a:off x="9235440" y="4709160"/>
            <a:ext cx="2651760" cy="1188720"/>
          </a:xfrm>
          <a:prstGeom prst="rect">
            <a:avLst/>
          </a:prstGeom>
          <a:noFill/>
          <a:ln/>
        </p:spPr>
        <p:txBody>
          <a:bodyPr wrap="square" lIns="0" tIns="0" rIns="0" bIns="0" rtlCol="0" anchor="ctr"/>
          <a:lstStyle/>
          <a:p>
            <a:pPr indent="0" marL="0">
              <a:lnSpc>
                <a:spcPct val="120000"/>
              </a:lnSpc>
              <a:buNone/>
            </a:pPr>
            <a:r>
              <a:rPr lang="en-US" sz="1500" b="1" dirty="0">
                <a:solidFill>
                  <a:srgbClr val="FFFFFF"/>
                </a:solidFill>
                <a:latin typeface="Arial" pitchFamily="34" charset="0"/>
                <a:ea typeface="Arial" pitchFamily="34" charset="-122"/>
                <a:cs typeface="Arial" pitchFamily="34" charset="-120"/>
              </a:rPr>
              <a:t>27 city pages in total.</a:t>
            </a:r>
            <a:endParaRPr lang="en-US" sz="1500" dirty="0"/>
          </a:p>
          <a:p>
            <a:pPr indent="0" marL="0">
              <a:lnSpc>
                <a:spcPct val="120000"/>
              </a:lnSpc>
              <a:buNone/>
            </a:pPr>
            <a:r>
              <a:rPr lang="en-US" sz="1500" b="1" dirty="0">
                <a:solidFill>
                  <a:srgbClr val="FFFFFF"/>
                </a:solidFill>
                <a:latin typeface="Arial" pitchFamily="34" charset="0"/>
                <a:ea typeface="Arial" pitchFamily="34" charset="-122"/>
                <a:cs typeface="Arial" pitchFamily="34" charset="-120"/>
              </a:rPr>
              <a:t>Adding the 28th costs</a:t>
            </a:r>
            <a:endParaRPr lang="en-US" sz="1500" dirty="0"/>
          </a:p>
          <a:p>
            <a:pPr indent="0" marL="0">
              <a:lnSpc>
                <a:spcPct val="120000"/>
              </a:lnSpc>
              <a:buNone/>
            </a:pPr>
            <a:r>
              <a:rPr lang="en-US" sz="1500" b="1" dirty="0">
                <a:solidFill>
                  <a:srgbClr val="FFFFFF"/>
                </a:solidFill>
                <a:latin typeface="Arial" pitchFamily="34" charset="0"/>
                <a:ea typeface="Arial" pitchFamily="34" charset="-122"/>
                <a:cs typeface="Arial" pitchFamily="34" charset="-120"/>
              </a:rPr>
              <a:t>copy, not code.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THE 27 CITY PAGES</a:t>
            </a:r>
            <a:endParaRPr lang="en-US" sz="1100" dirty="0"/>
          </a:p>
        </p:txBody>
      </p:sp>
      <p:sp>
        <p:nvSpPr>
          <p:cNvPr id="3" name="Text 1"/>
          <p:cNvSpPr txBox="1"/>
          <p:nvPr/>
        </p:nvSpPr>
        <p:spPr>
          <a:xfrm>
            <a:off x="685800" y="1005840"/>
            <a:ext cx="10789920" cy="1280160"/>
          </a:xfrm>
          <a:prstGeom prst="rect">
            <a:avLst/>
          </a:prstGeom>
          <a:noFill/>
          <a:ln/>
        </p:spPr>
        <p:txBody>
          <a:bodyPr wrap="square" lIns="0" tIns="0" rIns="0" bIns="0" rtlCol="0" anchor="t"/>
          <a:lstStyle/>
          <a:p>
            <a:pPr indent="0" marL="0">
              <a:lnSpc>
                <a:spcPct val="100000"/>
              </a:lnSpc>
              <a:buNone/>
            </a:pPr>
            <a:r>
              <a:rPr lang="en-US" sz="3000" b="1" spc="50" kern="0" dirty="0">
                <a:solidFill>
                  <a:srgbClr val="0B0D0E"/>
                </a:solidFill>
                <a:latin typeface="Arial" pitchFamily="34" charset="0"/>
                <a:ea typeface="Arial" pitchFamily="34" charset="-122"/>
                <a:cs typeface="Arial" pitchFamily="34" charset="-120"/>
              </a:rPr>
              <a:t>Anyone can spray a city name across a template.</a:t>
            </a:r>
            <a:endParaRPr lang="en-US" sz="3000" dirty="0"/>
          </a:p>
          <a:p>
            <a:pPr indent="0" marL="0">
              <a:lnSpc>
                <a:spcPct val="100000"/>
              </a:lnSpc>
              <a:buNone/>
            </a:pPr>
            <a:r>
              <a:rPr lang="en-US" sz="3000" b="1" spc="50" kern="0" dirty="0">
                <a:solidFill>
                  <a:srgbClr val="0B0D0E"/>
                </a:solidFill>
                <a:latin typeface="Arial" pitchFamily="34" charset="0"/>
                <a:ea typeface="Arial" pitchFamily="34" charset="-122"/>
                <a:cs typeface="Arial" pitchFamily="34" charset="-120"/>
              </a:rPr>
              <a:t>Google punishes that.</a:t>
            </a:r>
            <a:endParaRPr lang="en-US" sz="3000" dirty="0"/>
          </a:p>
        </p:txBody>
      </p:sp>
      <p:sp>
        <p:nvSpPr>
          <p:cNvPr id="4" name="Shape 2"/>
          <p:cNvSpPr/>
          <p:nvPr/>
        </p:nvSpPr>
        <p:spPr>
          <a:xfrm>
            <a:off x="685800" y="2423160"/>
            <a:ext cx="1463040" cy="32004"/>
          </a:xfrm>
          <a:prstGeom prst="rect">
            <a:avLst/>
          </a:prstGeom>
          <a:solidFill>
            <a:srgbClr val="C32C26"/>
          </a:solidFill>
          <a:ln/>
        </p:spPr>
      </p:sp>
      <p:sp>
        <p:nvSpPr>
          <p:cNvPr id="5" name="Text 3"/>
          <p:cNvSpPr txBox="1"/>
          <p:nvPr/>
        </p:nvSpPr>
        <p:spPr>
          <a:xfrm>
            <a:off x="685800" y="2697480"/>
            <a:ext cx="5852160" cy="146304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A set of pages that differ only by the city name is a pattern Google specifically demotes — and it drags down the pages that were already working. So every one of these 27 was written about that city's actual housing, streets and access problems, then reviewed independently before launch.</a:t>
            </a:r>
            <a:endParaRPr lang="en-US" sz="1500" dirty="0"/>
          </a:p>
        </p:txBody>
      </p:sp>
      <p:sp>
        <p:nvSpPr>
          <p:cNvPr id="6" name="Text 4"/>
          <p:cNvSpPr txBox="1"/>
          <p:nvPr/>
        </p:nvSpPr>
        <p:spPr>
          <a:xfrm>
            <a:off x="685800" y="4480560"/>
            <a:ext cx="2743200" cy="960120"/>
          </a:xfrm>
          <a:prstGeom prst="rect">
            <a:avLst/>
          </a:prstGeom>
          <a:noFill/>
          <a:ln/>
        </p:spPr>
        <p:txBody>
          <a:bodyPr wrap="square" lIns="0" tIns="0" rIns="0" bIns="0" rtlCol="0" anchor="t"/>
          <a:lstStyle/>
          <a:p>
            <a:pPr algn="l" indent="0" marL="0">
              <a:buNone/>
            </a:pPr>
            <a:r>
              <a:rPr lang="en-US" sz="5600" b="1" dirty="0">
                <a:solidFill>
                  <a:srgbClr val="0B0D0E"/>
                </a:solidFill>
                <a:latin typeface="Arial" pitchFamily="34" charset="0"/>
                <a:ea typeface="Arial" pitchFamily="34" charset="-122"/>
                <a:cs typeface="Arial" pitchFamily="34" charset="-120"/>
              </a:rPr>
              <a:t>79</a:t>
            </a:r>
            <a:endParaRPr lang="en-US" sz="5600" dirty="0"/>
          </a:p>
        </p:txBody>
      </p:sp>
      <p:sp>
        <p:nvSpPr>
          <p:cNvPr id="7" name="Text 5"/>
          <p:cNvSpPr txBox="1"/>
          <p:nvPr/>
        </p:nvSpPr>
        <p:spPr>
          <a:xfrm>
            <a:off x="685800" y="5413248"/>
            <a:ext cx="27432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PROBLEMS FOUND IN</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INDEPENDENT REVIEW</a:t>
            </a:r>
            <a:endParaRPr lang="en-US" sz="1100" dirty="0"/>
          </a:p>
        </p:txBody>
      </p:sp>
      <p:sp>
        <p:nvSpPr>
          <p:cNvPr id="8" name="Text 6"/>
          <p:cNvSpPr txBox="1"/>
          <p:nvPr/>
        </p:nvSpPr>
        <p:spPr>
          <a:xfrm>
            <a:off x="3794760" y="4480560"/>
            <a:ext cx="2743200" cy="960120"/>
          </a:xfrm>
          <a:prstGeom prst="rect">
            <a:avLst/>
          </a:prstGeom>
          <a:noFill/>
          <a:ln/>
        </p:spPr>
        <p:txBody>
          <a:bodyPr wrap="square" lIns="0" tIns="0" rIns="0" bIns="0" rtlCol="0" anchor="t"/>
          <a:lstStyle/>
          <a:p>
            <a:pPr algn="l" indent="0" marL="0">
              <a:buNone/>
            </a:pPr>
            <a:r>
              <a:rPr lang="en-US" sz="5600" b="1" dirty="0">
                <a:solidFill>
                  <a:srgbClr val="A91E23"/>
                </a:solidFill>
                <a:latin typeface="Arial" pitchFamily="34" charset="0"/>
                <a:ea typeface="Arial" pitchFamily="34" charset="-122"/>
                <a:cs typeface="Arial" pitchFamily="34" charset="-120"/>
              </a:rPr>
              <a:t>79</a:t>
            </a:r>
            <a:endParaRPr lang="en-US" sz="5600" dirty="0"/>
          </a:p>
        </p:txBody>
      </p:sp>
      <p:sp>
        <p:nvSpPr>
          <p:cNvPr id="9" name="Text 7"/>
          <p:cNvSpPr txBox="1"/>
          <p:nvPr/>
        </p:nvSpPr>
        <p:spPr>
          <a:xfrm>
            <a:off x="3794760" y="5413248"/>
            <a:ext cx="2743200" cy="685800"/>
          </a:xfrm>
          <a:prstGeom prst="rect">
            <a:avLst/>
          </a:prstGeom>
          <a:noFill/>
          <a:ln/>
        </p:spPr>
        <p:txBody>
          <a:bodyPr wrap="square" lIns="0" tIns="0" rIns="0" bIns="0" rtlCol="0" anchor="t"/>
          <a:lstStyle/>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FIXED BEFORE A SINGLE</a:t>
            </a:r>
            <a:endParaRPr lang="en-US" sz="1100" dirty="0"/>
          </a:p>
          <a:p>
            <a:pPr algn="l" indent="0" marL="0">
              <a:lnSpc>
                <a:spcPct val="120000"/>
              </a:lnSpc>
              <a:buNone/>
            </a:pPr>
            <a:r>
              <a:rPr lang="en-US" sz="1100" b="1" spc="200" kern="0" dirty="0">
                <a:solidFill>
                  <a:srgbClr val="605F5D"/>
                </a:solidFill>
                <a:latin typeface="Arial" pitchFamily="34" charset="0"/>
                <a:ea typeface="Arial" pitchFamily="34" charset="-122"/>
                <a:cs typeface="Arial" pitchFamily="34" charset="-120"/>
              </a:rPr>
              <a:t>PAGE WENT LIVE</a:t>
            </a:r>
            <a:endParaRPr lang="en-US" sz="1100" dirty="0"/>
          </a:p>
        </p:txBody>
      </p:sp>
      <p:sp>
        <p:nvSpPr>
          <p:cNvPr id="10" name="Shape 8"/>
          <p:cNvSpPr/>
          <p:nvPr/>
        </p:nvSpPr>
        <p:spPr>
          <a:xfrm>
            <a:off x="6766560" y="2697480"/>
            <a:ext cx="4709160" cy="3291840"/>
          </a:xfrm>
          <a:prstGeom prst="rect">
            <a:avLst/>
          </a:prstGeom>
          <a:solidFill>
            <a:srgbClr val="E5E1DE"/>
          </a:solidFill>
          <a:ln/>
        </p:spPr>
      </p:sp>
      <p:sp>
        <p:nvSpPr>
          <p:cNvPr id="11" name="Text 9"/>
          <p:cNvSpPr txBox="1"/>
          <p:nvPr/>
        </p:nvSpPr>
        <p:spPr>
          <a:xfrm>
            <a:off x="7086600" y="2971800"/>
            <a:ext cx="411480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WHAT THE REVIEW CAUGHT</a:t>
            </a:r>
            <a:endParaRPr lang="en-US" sz="1000" dirty="0"/>
          </a:p>
        </p:txBody>
      </p:sp>
      <p:sp>
        <p:nvSpPr>
          <p:cNvPr id="12" name="Text 10"/>
          <p:cNvSpPr txBox="1"/>
          <p:nvPr/>
        </p:nvSpPr>
        <p:spPr>
          <a:xfrm>
            <a:off x="7086600" y="3383280"/>
            <a:ext cx="4069080" cy="23774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300" dirty="0">
                <a:solidFill>
                  <a:srgbClr val="0B0D0E"/>
                </a:solidFill>
                <a:latin typeface="Calibri" pitchFamily="34" charset="0"/>
                <a:ea typeface="Calibri" pitchFamily="34" charset="-122"/>
                <a:cs typeface="Calibri" pitchFamily="34" charset="-120"/>
              </a:rPr>
              <a:t>Invented local facts — figures, landmarks and neighborhoods that could not be verified</a:t>
            </a:r>
            <a:endParaRPr lang="en-US" sz="1300" dirty="0"/>
          </a:p>
          <a:p>
            <a:pPr marL="342900" indent="-342900">
              <a:lnSpc>
                <a:spcPct val="115000"/>
              </a:lnSpc>
              <a:spcAft>
                <a:spcPts val="800"/>
              </a:spcAft>
              <a:buSzPct val="100000"/>
              <a:buChar char="•"/>
            </a:pPr>
            <a:r>
              <a:rPr lang="en-US" sz="1300" dirty="0">
                <a:solidFill>
                  <a:srgbClr val="0B0D0E"/>
                </a:solidFill>
                <a:latin typeface="Calibri" pitchFamily="34" charset="0"/>
                <a:ea typeface="Calibri" pitchFamily="34" charset="-122"/>
                <a:cs typeface="Calibri" pitchFamily="34" charset="-120"/>
              </a:rPr>
              <a:t>Passages that read identically on two different cities</a:t>
            </a:r>
            <a:endParaRPr lang="en-US" sz="1300" dirty="0"/>
          </a:p>
          <a:p>
            <a:pPr marL="342900" indent="-342900">
              <a:lnSpc>
                <a:spcPct val="115000"/>
              </a:lnSpc>
              <a:spcAft>
                <a:spcPts val="800"/>
              </a:spcAft>
              <a:buSzPct val="100000"/>
              <a:buChar char="•"/>
            </a:pPr>
            <a:r>
              <a:rPr lang="en-US" sz="1300" dirty="0">
                <a:solidFill>
                  <a:srgbClr val="0B0D0E"/>
                </a:solidFill>
                <a:latin typeface="Calibri" pitchFamily="34" charset="0"/>
                <a:ea typeface="Calibri" pitchFamily="34" charset="-122"/>
                <a:cs typeface="Calibri" pitchFamily="34" charset="-120"/>
              </a:rPr>
              <a:t>Claims about jobs the company has not confirmed doing</a:t>
            </a:r>
            <a:endParaRPr lang="en-US" sz="1300" dirty="0"/>
          </a:p>
          <a:p>
            <a:pPr marL="342900" indent="-342900">
              <a:lnSpc>
                <a:spcPct val="115000"/>
              </a:lnSpc>
              <a:buSzPct val="100000"/>
              <a:buChar char="•"/>
            </a:pPr>
            <a:r>
              <a:rPr lang="en-US" sz="1300" dirty="0">
                <a:solidFill>
                  <a:srgbClr val="0B0D0E"/>
                </a:solidFill>
                <a:latin typeface="Calibri" pitchFamily="34" charset="0"/>
                <a:ea typeface="Calibri" pitchFamily="34" charset="-122"/>
                <a:cs typeface="Calibri" pitchFamily="34" charset="-120"/>
              </a:rPr>
              <a:t>Three lines that described the people in a neighborhood rather than the buildings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0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PHOTOGRAPHY</a:t>
            </a:r>
            <a:endParaRPr lang="en-US" sz="1100" dirty="0"/>
          </a:p>
        </p:txBody>
      </p:sp>
      <p:sp>
        <p:nvSpPr>
          <p:cNvPr id="3" name="Text 1"/>
          <p:cNvSpPr txBox="1"/>
          <p:nvPr/>
        </p:nvSpPr>
        <p:spPr>
          <a:xfrm>
            <a:off x="685800" y="1005840"/>
            <a:ext cx="10789920" cy="777240"/>
          </a:xfrm>
          <a:prstGeom prst="rect">
            <a:avLst/>
          </a:prstGeom>
          <a:noFill/>
          <a:ln/>
        </p:spPr>
        <p:txBody>
          <a:bodyPr wrap="square" lIns="0" tIns="0" rIns="0" bIns="0" rtlCol="0" anchor="t"/>
          <a:lstStyle/>
          <a:p>
            <a:pPr indent="0" marL="0">
              <a:lnSpc>
                <a:spcPct val="100000"/>
              </a:lnSpc>
              <a:buNone/>
            </a:pPr>
            <a:r>
              <a:rPr lang="en-US" sz="3100" b="1" spc="50" kern="0" dirty="0">
                <a:solidFill>
                  <a:srgbClr val="FFFFFF"/>
                </a:solidFill>
                <a:latin typeface="Arial" pitchFamily="34" charset="0"/>
                <a:ea typeface="Arial" pitchFamily="34" charset="-122"/>
                <a:cs typeface="Arial" pitchFamily="34" charset="-120"/>
              </a:rPr>
              <a:t>32 photographs. All yours. Not one stock image.</a:t>
            </a:r>
            <a:endParaRPr lang="en-US" sz="3100" dirty="0"/>
          </a:p>
        </p:txBody>
      </p:sp>
      <p:pic>
        <p:nvPicPr>
          <p:cNvPr id="4" name="Image 0" descr="/tmp/claude-0/-home-user-Redemption-Cleaout/6c436b38-4a00-5a84-b2a4-cdf94e186ff0/scratchpad/deck/garage-cleanout-crew-sorting-before.jpg">    </p:cNvPr>
          <p:cNvPicPr>
            <a:picLocks noChangeAspect="1"/>
          </p:cNvPicPr>
          <p:nvPr/>
        </p:nvPicPr>
        <p:blipFill>
          <a:blip r:embed="rId1"/>
          <a:srcRect l="0" r="0" t="0" b="0"/>
          <a:stretch/>
        </p:blipFill>
        <p:spPr>
          <a:xfrm>
            <a:off x="685800" y="2148840"/>
            <a:ext cx="2606040" cy="1572768"/>
          </a:xfrm>
          <a:prstGeom prst="rect">
            <a:avLst/>
          </a:prstGeom>
        </p:spPr>
      </p:pic>
      <p:pic>
        <p:nvPicPr>
          <p:cNvPr id="5" name="Image 1" descr="/tmp/claude-0/-home-user-Redemption-Cleaout/6c436b38-4a00-5a84-b2a4-cdf94e186ff0/scratchpad/deck/pole-barn-cleared-interior.jpg">    </p:cNvPr>
          <p:cNvPicPr>
            <a:picLocks noChangeAspect="1"/>
          </p:cNvPicPr>
          <p:nvPr/>
        </p:nvPicPr>
        <p:blipFill>
          <a:blip r:embed="rId2"/>
          <a:srcRect l="0" r="0" t="0" b="0"/>
          <a:stretch/>
        </p:blipFill>
        <p:spPr>
          <a:xfrm>
            <a:off x="3474720" y="2148840"/>
            <a:ext cx="2606040" cy="1572768"/>
          </a:xfrm>
          <a:prstGeom prst="rect">
            <a:avLst/>
          </a:prstGeom>
        </p:spPr>
      </p:pic>
      <p:pic>
        <p:nvPicPr>
          <p:cNvPr id="6" name="Image 2" descr="/tmp/claude-0/-home-user-Redemption-Cleaout/6c436b38-4a00-5a84-b2a4-cdf94e186ff0/scratchpad/deck/crew-branded-shirts-yard-clearing.jpg">    </p:cNvPr>
          <p:cNvPicPr>
            <a:picLocks noChangeAspect="1"/>
          </p:cNvPicPr>
          <p:nvPr/>
        </p:nvPicPr>
        <p:blipFill>
          <a:blip r:embed="rId3"/>
          <a:srcRect l="0" r="0" t="0" b="0"/>
          <a:stretch/>
        </p:blipFill>
        <p:spPr>
          <a:xfrm>
            <a:off x="6263640" y="2148840"/>
            <a:ext cx="2606040" cy="1572768"/>
          </a:xfrm>
          <a:prstGeom prst="rect">
            <a:avLst/>
          </a:prstGeom>
        </p:spPr>
      </p:pic>
      <p:pic>
        <p:nvPicPr>
          <p:cNvPr id="7" name="Image 3" descr="/tmp/claude-0/-home-user-Redemption-Cleaout/6c436b38-4a00-5a84-b2a4-cdf94e186ff0/scratchpad/deck/severe-clutter-basement-before.jpg">    </p:cNvPr>
          <p:cNvPicPr>
            <a:picLocks noChangeAspect="1"/>
          </p:cNvPicPr>
          <p:nvPr/>
        </p:nvPicPr>
        <p:blipFill>
          <a:blip r:embed="rId4"/>
          <a:srcRect l="0" r="0" t="0" b="0"/>
          <a:stretch/>
        </p:blipFill>
        <p:spPr>
          <a:xfrm>
            <a:off x="9052560" y="2148840"/>
            <a:ext cx="2606040" cy="1572768"/>
          </a:xfrm>
          <a:prstGeom prst="rect">
            <a:avLst/>
          </a:prstGeom>
        </p:spPr>
      </p:pic>
      <p:pic>
        <p:nvPicPr>
          <p:cNvPr id="8" name="Image 4" descr="/tmp/claude-0/-home-user-Redemption-Cleaout/6c436b38-4a00-5a84-b2a4-cdf94e186ff0/scratchpad/deck/commercial-forklift-pallet-loading.jpg">    </p:cNvPr>
          <p:cNvPicPr>
            <a:picLocks noChangeAspect="1"/>
          </p:cNvPicPr>
          <p:nvPr/>
        </p:nvPicPr>
        <p:blipFill>
          <a:blip r:embed="rId5"/>
          <a:srcRect l="0" r="0" t="0" b="0"/>
          <a:stretch/>
        </p:blipFill>
        <p:spPr>
          <a:xfrm>
            <a:off x="685800" y="3886200"/>
            <a:ext cx="2606040" cy="1572768"/>
          </a:xfrm>
          <a:prstGeom prst="rect">
            <a:avLst/>
          </a:prstGeom>
        </p:spPr>
      </p:pic>
      <p:pic>
        <p:nvPicPr>
          <p:cNvPr id="9" name="Image 5" descr="/tmp/claude-0/-home-user-Redemption-Cleaout/6c436b38-4a00-5a84-b2a4-cdf94e186ff0/scratchpad/deck/estate-cleanout-driveway-staging.jpg">    </p:cNvPr>
          <p:cNvPicPr>
            <a:picLocks noChangeAspect="1"/>
          </p:cNvPicPr>
          <p:nvPr/>
        </p:nvPicPr>
        <p:blipFill>
          <a:blip r:embed="rId6"/>
          <a:srcRect l="0" r="0" t="0" b="0"/>
          <a:stretch/>
        </p:blipFill>
        <p:spPr>
          <a:xfrm>
            <a:off x="3474720" y="3886200"/>
            <a:ext cx="2606040" cy="1572768"/>
          </a:xfrm>
          <a:prstGeom prst="rect">
            <a:avLst/>
          </a:prstGeom>
        </p:spPr>
      </p:pic>
      <p:pic>
        <p:nvPicPr>
          <p:cNvPr id="10" name="Image 6" descr="/tmp/claude-0/-home-user-Redemption-Cleaout/6c436b38-4a00-5a84-b2a4-cdf94e186ff0/scratchpad/deck/metal-recycling-load-dropoff.jpg">    </p:cNvPr>
          <p:cNvPicPr>
            <a:picLocks noChangeAspect="1"/>
          </p:cNvPicPr>
          <p:nvPr/>
        </p:nvPicPr>
        <p:blipFill>
          <a:blip r:embed="rId7"/>
          <a:srcRect l="0" r="0" t="0" b="0"/>
          <a:stretch/>
        </p:blipFill>
        <p:spPr>
          <a:xfrm>
            <a:off x="6263640" y="3886200"/>
            <a:ext cx="2606040" cy="1572768"/>
          </a:xfrm>
          <a:prstGeom prst="rect">
            <a:avLst/>
          </a:prstGeom>
        </p:spPr>
      </p:pic>
      <p:pic>
        <p:nvPicPr>
          <p:cNvPr id="11" name="Image 7" descr="/tmp/claude-0/-home-user-Redemption-Cleaout/6c436b38-4a00-5a84-b2a4-cdf94e186ff0/scratchpad/deck/branded-dump-trailer-curbside.jpg">    </p:cNvPr>
          <p:cNvPicPr>
            <a:picLocks noChangeAspect="1"/>
          </p:cNvPicPr>
          <p:nvPr/>
        </p:nvPicPr>
        <p:blipFill>
          <a:blip r:embed="rId8"/>
          <a:srcRect l="0" r="0" t="0" b="0"/>
          <a:stretch/>
        </p:blipFill>
        <p:spPr>
          <a:xfrm>
            <a:off x="9052560" y="3886200"/>
            <a:ext cx="2606040" cy="1572768"/>
          </a:xfrm>
          <a:prstGeom prst="rect">
            <a:avLst/>
          </a:prstGeom>
        </p:spPr>
      </p:pic>
      <p:sp>
        <p:nvSpPr>
          <p:cNvPr id="12" name="Text 2"/>
          <p:cNvSpPr txBox="1"/>
          <p:nvPr/>
        </p:nvSpPr>
        <p:spPr>
          <a:xfrm>
            <a:off x="685800" y="5806440"/>
            <a:ext cx="10789920" cy="822960"/>
          </a:xfrm>
          <a:prstGeom prst="rect">
            <a:avLst/>
          </a:prstGeom>
          <a:noFill/>
          <a:ln/>
        </p:spPr>
        <p:txBody>
          <a:bodyPr wrap="square" lIns="0" tIns="0" rIns="0" bIns="0" rtlCol="0" anchor="t"/>
          <a:lstStyle/>
          <a:p>
            <a:pPr algn="l" indent="0" marL="0">
              <a:lnSpc>
                <a:spcPct val="125000"/>
              </a:lnSpc>
              <a:buNone/>
            </a:pPr>
            <a:r>
              <a:rPr lang="en-US" sz="1400" dirty="0">
                <a:solidFill>
                  <a:srgbClr val="B8B5B1"/>
                </a:solidFill>
                <a:latin typeface="Calibri" pitchFamily="34" charset="0"/>
                <a:ea typeface="Calibri" pitchFamily="34" charset="-122"/>
                <a:cs typeface="Calibri" pitchFamily="34" charset="-120"/>
              </a:rPr>
              <a:t>Pulled from your own Drive, cropped to one consistent frame, and stripped of location data before publishing. The whole gallery lives on one page with a lightbox — including all 13 frames from the August commercial gut-out.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THE AUGUST COMMERCIAL GUT-OUT</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The demolition job, published in full.</a:t>
            </a:r>
            <a:endParaRPr lang="en-US" sz="3100" dirty="0"/>
          </a:p>
        </p:txBody>
      </p:sp>
      <p:pic>
        <p:nvPicPr>
          <p:cNvPr id="4" name="Image 0" descr="/tmp/claude-0/-home-user-Redemption-Cleaout/6c436b38-4a00-5a84-b2a4-cdf94e186ff0/scratchpad/deck/demolition-teardown-before-02.jpg">    </p:cNvPr>
          <p:cNvPicPr>
            <a:picLocks noChangeAspect="1"/>
          </p:cNvPicPr>
          <p:nvPr/>
        </p:nvPicPr>
        <p:blipFill>
          <a:blip r:embed="rId1"/>
          <a:srcRect l="0" r="0" t="0" b="0"/>
          <a:stretch/>
        </p:blipFill>
        <p:spPr>
          <a:xfrm>
            <a:off x="685800" y="1920240"/>
            <a:ext cx="5257800" cy="3246120"/>
          </a:xfrm>
          <a:prstGeom prst="rect">
            <a:avLst/>
          </a:prstGeom>
        </p:spPr>
      </p:pic>
      <p:pic>
        <p:nvPicPr>
          <p:cNvPr id="5" name="Image 1" descr="/tmp/claude-0/-home-user-Redemption-Cleaout/6c436b38-4a00-5a84-b2a4-cdf94e186ff0/scratchpad/deck/demolition-teardown-after-03.jpg">    </p:cNvPr>
          <p:cNvPicPr>
            <a:picLocks noChangeAspect="1"/>
          </p:cNvPicPr>
          <p:nvPr/>
        </p:nvPicPr>
        <p:blipFill>
          <a:blip r:embed="rId2"/>
          <a:srcRect l="0" r="0" t="0" b="0"/>
          <a:stretch/>
        </p:blipFill>
        <p:spPr>
          <a:xfrm>
            <a:off x="6263640" y="1920240"/>
            <a:ext cx="5257800" cy="3246120"/>
          </a:xfrm>
          <a:prstGeom prst="rect">
            <a:avLst/>
          </a:prstGeom>
        </p:spPr>
      </p:pic>
      <p:sp>
        <p:nvSpPr>
          <p:cNvPr id="6" name="Text 2"/>
          <p:cNvSpPr txBox="1"/>
          <p:nvPr/>
        </p:nvSpPr>
        <p:spPr>
          <a:xfrm>
            <a:off x="685800" y="5303520"/>
            <a:ext cx="2743200" cy="274320"/>
          </a:xfrm>
          <a:prstGeom prst="rect">
            <a:avLst/>
          </a:prstGeom>
          <a:noFill/>
          <a:ln/>
        </p:spPr>
        <p:txBody>
          <a:bodyPr wrap="square" lIns="0" tIns="0" rIns="0" bIns="0" rtlCol="0" anchor="ctr"/>
          <a:lstStyle/>
          <a:p>
            <a:pPr indent="0" marL="0">
              <a:buNone/>
            </a:pPr>
            <a:r>
              <a:rPr lang="en-US" sz="1200" b="1" spc="200" kern="0" dirty="0">
                <a:solidFill>
                  <a:srgbClr val="A91E23"/>
                </a:solidFill>
                <a:latin typeface="Arial" pitchFamily="34" charset="0"/>
                <a:ea typeface="Arial" pitchFamily="34" charset="-122"/>
                <a:cs typeface="Arial" pitchFamily="34" charset="-120"/>
              </a:rPr>
              <a:t>BEFORE</a:t>
            </a:r>
            <a:endParaRPr lang="en-US" sz="1200" dirty="0"/>
          </a:p>
        </p:txBody>
      </p:sp>
      <p:sp>
        <p:nvSpPr>
          <p:cNvPr id="7" name="Text 3"/>
          <p:cNvSpPr txBox="1"/>
          <p:nvPr/>
        </p:nvSpPr>
        <p:spPr>
          <a:xfrm>
            <a:off x="6263640" y="5303520"/>
            <a:ext cx="2743200" cy="274320"/>
          </a:xfrm>
          <a:prstGeom prst="rect">
            <a:avLst/>
          </a:prstGeom>
          <a:noFill/>
          <a:ln/>
        </p:spPr>
        <p:txBody>
          <a:bodyPr wrap="square" lIns="0" tIns="0" rIns="0" bIns="0" rtlCol="0" anchor="ctr"/>
          <a:lstStyle/>
          <a:p>
            <a:pPr indent="0" marL="0">
              <a:buNone/>
            </a:pPr>
            <a:r>
              <a:rPr lang="en-US" sz="1200" b="1" spc="200" kern="0" dirty="0">
                <a:solidFill>
                  <a:srgbClr val="A91E23"/>
                </a:solidFill>
                <a:latin typeface="Arial" pitchFamily="34" charset="0"/>
                <a:ea typeface="Arial" pitchFamily="34" charset="-122"/>
                <a:cs typeface="Arial" pitchFamily="34" charset="-120"/>
              </a:rPr>
              <a:t>AFTER</a:t>
            </a:r>
            <a:endParaRPr lang="en-US" sz="1200" dirty="0"/>
          </a:p>
        </p:txBody>
      </p:sp>
      <p:sp>
        <p:nvSpPr>
          <p:cNvPr id="8" name="Text 4"/>
          <p:cNvSpPr txBox="1"/>
          <p:nvPr/>
        </p:nvSpPr>
        <p:spPr>
          <a:xfrm>
            <a:off x="685800" y="5669280"/>
            <a:ext cx="10789920" cy="822960"/>
          </a:xfrm>
          <a:prstGeom prst="rect">
            <a:avLst/>
          </a:prstGeom>
          <a:noFill/>
          <a:ln/>
        </p:spPr>
        <p:txBody>
          <a:bodyPr wrap="square" lIns="0" tIns="0" rIns="0" bIns="0" rtlCol="0" anchor="t"/>
          <a:lstStyle/>
          <a:p>
            <a:pPr algn="l" indent="0" marL="0">
              <a:lnSpc>
                <a:spcPct val="125000"/>
              </a:lnSpc>
              <a:buNone/>
            </a:pPr>
            <a:r>
              <a:rPr lang="en-US" sz="1400" dirty="0">
                <a:solidFill>
                  <a:srgbClr val="605F5D"/>
                </a:solidFill>
                <a:latin typeface="Calibri" pitchFamily="34" charset="0"/>
                <a:ea typeface="Calibri" pitchFamily="34" charset="-122"/>
                <a:cs typeface="Calibri" pitchFamily="34" charset="-120"/>
              </a:rPr>
              <a:t>A fully partitioned commercial office suite — corridor, private offices, washroom, suspended ceilings, carpet — taken back to bare block and slab. Eight before frames and five after frames are on the site, and the after shot leads the demolition page.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E1D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HOW THE SITE DESCRIBES YOUR PROCESS</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It now quotes the way you actually quote.</a:t>
            </a:r>
            <a:endParaRPr lang="en-US" sz="3100" dirty="0"/>
          </a:p>
        </p:txBody>
      </p:sp>
      <p:sp>
        <p:nvSpPr>
          <p:cNvPr id="4" name="Shape 2"/>
          <p:cNvSpPr/>
          <p:nvPr/>
        </p:nvSpPr>
        <p:spPr>
          <a:xfrm>
            <a:off x="685800" y="1783080"/>
            <a:ext cx="1463040" cy="32004"/>
          </a:xfrm>
          <a:prstGeom prst="rect">
            <a:avLst/>
          </a:prstGeom>
          <a:solidFill>
            <a:srgbClr val="C32C26"/>
          </a:solidFill>
          <a:ln/>
        </p:spPr>
      </p:sp>
      <p:sp>
        <p:nvSpPr>
          <p:cNvPr id="5" name="Text 3"/>
          <p:cNvSpPr txBox="1"/>
          <p:nvPr/>
        </p:nvSpPr>
        <p:spPr>
          <a:xfrm>
            <a:off x="685800" y="2103120"/>
            <a:ext cx="10789920" cy="77724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The old copy said you never price from photos. You told us that isn't how it works — so the site now walks a customer through the real sequence, and every other page that mentions pricing was rewritten to match it.</a:t>
            </a:r>
            <a:endParaRPr lang="en-US" sz="1500" dirty="0"/>
          </a:p>
        </p:txBody>
      </p:sp>
      <p:sp>
        <p:nvSpPr>
          <p:cNvPr id="6" name="Shape 4"/>
          <p:cNvSpPr/>
          <p:nvPr/>
        </p:nvSpPr>
        <p:spPr>
          <a:xfrm>
            <a:off x="685800" y="3291840"/>
            <a:ext cx="2048256" cy="2423160"/>
          </a:xfrm>
          <a:prstGeom prst="rect">
            <a:avLst/>
          </a:prstGeom>
          <a:solidFill>
            <a:srgbClr val="FFFFFF"/>
          </a:solidFill>
          <a:ln/>
        </p:spPr>
      </p:sp>
      <p:sp>
        <p:nvSpPr>
          <p:cNvPr id="7" name="Text 5"/>
          <p:cNvSpPr txBox="1"/>
          <p:nvPr/>
        </p:nvSpPr>
        <p:spPr>
          <a:xfrm>
            <a:off x="914400" y="3474720"/>
            <a:ext cx="1645920" cy="502920"/>
          </a:xfrm>
          <a:prstGeom prst="rect">
            <a:avLst/>
          </a:prstGeom>
          <a:noFill/>
          <a:ln/>
        </p:spPr>
        <p:txBody>
          <a:bodyPr wrap="square" lIns="0" tIns="0" rIns="0" bIns="0" rtlCol="0" anchor="ctr"/>
          <a:lstStyle/>
          <a:p>
            <a:pPr indent="0" marL="0">
              <a:buNone/>
            </a:pPr>
            <a:r>
              <a:rPr lang="en-US" sz="2600" b="1" dirty="0">
                <a:solidFill>
                  <a:srgbClr val="A91E23"/>
                </a:solidFill>
                <a:latin typeface="Arial" pitchFamily="34" charset="0"/>
                <a:ea typeface="Arial" pitchFamily="34" charset="-122"/>
                <a:cs typeface="Arial" pitchFamily="34" charset="-120"/>
              </a:rPr>
              <a:t>1</a:t>
            </a:r>
            <a:endParaRPr lang="en-US" sz="2600" dirty="0"/>
          </a:p>
        </p:txBody>
      </p:sp>
      <p:sp>
        <p:nvSpPr>
          <p:cNvPr id="8" name="Text 6"/>
          <p:cNvSpPr txBox="1"/>
          <p:nvPr/>
        </p:nvSpPr>
        <p:spPr>
          <a:xfrm>
            <a:off x="914400" y="4005072"/>
            <a:ext cx="1645920" cy="548640"/>
          </a:xfrm>
          <a:prstGeom prst="rect">
            <a:avLst/>
          </a:prstGeom>
          <a:noFill/>
          <a:ln/>
        </p:spPr>
        <p:txBody>
          <a:bodyPr wrap="square" lIns="0" tIns="0" rIns="0" bIns="0" rtlCol="0" anchor="ctr"/>
          <a:lstStyle/>
          <a:p>
            <a:pPr indent="0" marL="0">
              <a:lnSpc>
                <a:spcPct val="105000"/>
              </a:lnSpc>
              <a:buNone/>
            </a:pPr>
            <a:r>
              <a:rPr lang="en-US" sz="1300" b="1" dirty="0">
                <a:solidFill>
                  <a:srgbClr val="0B0D0E"/>
                </a:solidFill>
                <a:latin typeface="Arial" pitchFamily="34" charset="0"/>
                <a:ea typeface="Arial" pitchFamily="34" charset="-122"/>
                <a:cs typeface="Arial" pitchFamily="34" charset="-120"/>
              </a:rPr>
              <a:t>Send photos</a:t>
            </a:r>
            <a:endParaRPr lang="en-US" sz="1300" dirty="0"/>
          </a:p>
        </p:txBody>
      </p:sp>
      <p:sp>
        <p:nvSpPr>
          <p:cNvPr id="9" name="Text 7"/>
          <p:cNvSpPr txBox="1"/>
          <p:nvPr/>
        </p:nvSpPr>
        <p:spPr>
          <a:xfrm>
            <a:off x="914400" y="4590288"/>
            <a:ext cx="1645920" cy="960120"/>
          </a:xfrm>
          <a:prstGeom prst="rect">
            <a:avLst/>
          </a:prstGeom>
          <a:noFill/>
          <a:ln/>
        </p:spPr>
        <p:txBody>
          <a:bodyPr wrap="square" lIns="0" tIns="0" rIns="0" bIns="0" rtlCol="0" anchor="ctr"/>
          <a:lstStyle/>
          <a:p>
            <a:pPr indent="0" marL="0">
              <a:lnSpc>
                <a:spcPct val="115000"/>
              </a:lnSpc>
              <a:buNone/>
            </a:pPr>
            <a:r>
              <a:rPr lang="en-US" sz="1100" dirty="0">
                <a:solidFill>
                  <a:srgbClr val="605F5D"/>
                </a:solidFill>
                <a:latin typeface="Calibri" pitchFamily="34" charset="0"/>
                <a:ea typeface="Calibri" pitchFamily="34" charset="-122"/>
                <a:cs typeface="Calibri" pitchFamily="34" charset="-120"/>
              </a:rPr>
              <a:t>Rooms, garage, basement — whatever needs to go.</a:t>
            </a:r>
            <a:endParaRPr lang="en-US" sz="1100" dirty="0"/>
          </a:p>
        </p:txBody>
      </p:sp>
      <p:sp>
        <p:nvSpPr>
          <p:cNvPr id="10" name="Shape 8"/>
          <p:cNvSpPr/>
          <p:nvPr/>
        </p:nvSpPr>
        <p:spPr>
          <a:xfrm>
            <a:off x="2916936" y="3291840"/>
            <a:ext cx="2048256" cy="2423160"/>
          </a:xfrm>
          <a:prstGeom prst="rect">
            <a:avLst/>
          </a:prstGeom>
          <a:solidFill>
            <a:srgbClr val="FFFFFF"/>
          </a:solidFill>
          <a:ln/>
        </p:spPr>
      </p:sp>
      <p:sp>
        <p:nvSpPr>
          <p:cNvPr id="11" name="Text 9"/>
          <p:cNvSpPr txBox="1"/>
          <p:nvPr/>
        </p:nvSpPr>
        <p:spPr>
          <a:xfrm>
            <a:off x="3145536" y="3474720"/>
            <a:ext cx="1645920" cy="502920"/>
          </a:xfrm>
          <a:prstGeom prst="rect">
            <a:avLst/>
          </a:prstGeom>
          <a:noFill/>
          <a:ln/>
        </p:spPr>
        <p:txBody>
          <a:bodyPr wrap="square" lIns="0" tIns="0" rIns="0" bIns="0" rtlCol="0" anchor="ctr"/>
          <a:lstStyle/>
          <a:p>
            <a:pPr indent="0" marL="0">
              <a:buNone/>
            </a:pPr>
            <a:r>
              <a:rPr lang="en-US" sz="2600" b="1" dirty="0">
                <a:solidFill>
                  <a:srgbClr val="A91E23"/>
                </a:solidFill>
                <a:latin typeface="Arial" pitchFamily="34" charset="0"/>
                <a:ea typeface="Arial" pitchFamily="34" charset="-122"/>
                <a:cs typeface="Arial" pitchFamily="34" charset="-120"/>
              </a:rPr>
              <a:t>2</a:t>
            </a:r>
            <a:endParaRPr lang="en-US" sz="2600" dirty="0"/>
          </a:p>
        </p:txBody>
      </p:sp>
      <p:sp>
        <p:nvSpPr>
          <p:cNvPr id="12" name="Text 10"/>
          <p:cNvSpPr txBox="1"/>
          <p:nvPr/>
        </p:nvSpPr>
        <p:spPr>
          <a:xfrm>
            <a:off x="3145536" y="4005072"/>
            <a:ext cx="1645920" cy="548640"/>
          </a:xfrm>
          <a:prstGeom prst="rect">
            <a:avLst/>
          </a:prstGeom>
          <a:noFill/>
          <a:ln/>
        </p:spPr>
        <p:txBody>
          <a:bodyPr wrap="square" lIns="0" tIns="0" rIns="0" bIns="0" rtlCol="0" anchor="ctr"/>
          <a:lstStyle/>
          <a:p>
            <a:pPr indent="0" marL="0">
              <a:lnSpc>
                <a:spcPct val="105000"/>
              </a:lnSpc>
              <a:buNone/>
            </a:pPr>
            <a:r>
              <a:rPr lang="en-US" sz="1300" b="1" dirty="0">
                <a:solidFill>
                  <a:srgbClr val="0B0D0E"/>
                </a:solidFill>
                <a:latin typeface="Arial" pitchFamily="34" charset="0"/>
                <a:ea typeface="Arial" pitchFamily="34" charset="-122"/>
                <a:cs typeface="Arial" pitchFamily="34" charset="-120"/>
              </a:rPr>
              <a:t>Ballpark by phone</a:t>
            </a:r>
            <a:endParaRPr lang="en-US" sz="1300" dirty="0"/>
          </a:p>
        </p:txBody>
      </p:sp>
      <p:sp>
        <p:nvSpPr>
          <p:cNvPr id="13" name="Text 11"/>
          <p:cNvSpPr txBox="1"/>
          <p:nvPr/>
        </p:nvSpPr>
        <p:spPr>
          <a:xfrm>
            <a:off x="3145536" y="4590288"/>
            <a:ext cx="1645920" cy="960120"/>
          </a:xfrm>
          <a:prstGeom prst="rect">
            <a:avLst/>
          </a:prstGeom>
          <a:noFill/>
          <a:ln/>
        </p:spPr>
        <p:txBody>
          <a:bodyPr wrap="square" lIns="0" tIns="0" rIns="0" bIns="0" rtlCol="0" anchor="ctr"/>
          <a:lstStyle/>
          <a:p>
            <a:pPr indent="0" marL="0">
              <a:lnSpc>
                <a:spcPct val="115000"/>
              </a:lnSpc>
              <a:buNone/>
            </a:pPr>
            <a:r>
              <a:rPr lang="en-US" sz="1100" dirty="0">
                <a:solidFill>
                  <a:srgbClr val="605F5D"/>
                </a:solidFill>
                <a:latin typeface="Calibri" pitchFamily="34" charset="0"/>
                <a:ea typeface="Calibri" pitchFamily="34" charset="-122"/>
                <a:cs typeface="Calibri" pitchFamily="34" charset="-120"/>
              </a:rPr>
              <a:t>A range, usually same day. No obligation, no charge.</a:t>
            </a:r>
            <a:endParaRPr lang="en-US" sz="1100" dirty="0"/>
          </a:p>
        </p:txBody>
      </p:sp>
      <p:sp>
        <p:nvSpPr>
          <p:cNvPr id="14" name="Shape 12"/>
          <p:cNvSpPr/>
          <p:nvPr/>
        </p:nvSpPr>
        <p:spPr>
          <a:xfrm>
            <a:off x="5148072" y="3291840"/>
            <a:ext cx="2048256" cy="2423160"/>
          </a:xfrm>
          <a:prstGeom prst="rect">
            <a:avLst/>
          </a:prstGeom>
          <a:solidFill>
            <a:srgbClr val="FFFFFF"/>
          </a:solidFill>
          <a:ln/>
        </p:spPr>
      </p:sp>
      <p:sp>
        <p:nvSpPr>
          <p:cNvPr id="15" name="Text 13"/>
          <p:cNvSpPr txBox="1"/>
          <p:nvPr/>
        </p:nvSpPr>
        <p:spPr>
          <a:xfrm>
            <a:off x="5376672" y="3474720"/>
            <a:ext cx="1645920" cy="502920"/>
          </a:xfrm>
          <a:prstGeom prst="rect">
            <a:avLst/>
          </a:prstGeom>
          <a:noFill/>
          <a:ln/>
        </p:spPr>
        <p:txBody>
          <a:bodyPr wrap="square" lIns="0" tIns="0" rIns="0" bIns="0" rtlCol="0" anchor="ctr"/>
          <a:lstStyle/>
          <a:p>
            <a:pPr indent="0" marL="0">
              <a:buNone/>
            </a:pPr>
            <a:r>
              <a:rPr lang="en-US" sz="2600" b="1" dirty="0">
                <a:solidFill>
                  <a:srgbClr val="A91E23"/>
                </a:solidFill>
                <a:latin typeface="Arial" pitchFamily="34" charset="0"/>
                <a:ea typeface="Arial" pitchFamily="34" charset="-122"/>
                <a:cs typeface="Arial" pitchFamily="34" charset="-120"/>
              </a:rPr>
              <a:t>3</a:t>
            </a:r>
            <a:endParaRPr lang="en-US" sz="2600" dirty="0"/>
          </a:p>
        </p:txBody>
      </p:sp>
      <p:sp>
        <p:nvSpPr>
          <p:cNvPr id="16" name="Text 14"/>
          <p:cNvSpPr txBox="1"/>
          <p:nvPr/>
        </p:nvSpPr>
        <p:spPr>
          <a:xfrm>
            <a:off x="5376672" y="4005072"/>
            <a:ext cx="1645920" cy="548640"/>
          </a:xfrm>
          <a:prstGeom prst="rect">
            <a:avLst/>
          </a:prstGeom>
          <a:noFill/>
          <a:ln/>
        </p:spPr>
        <p:txBody>
          <a:bodyPr wrap="square" lIns="0" tIns="0" rIns="0" bIns="0" rtlCol="0" anchor="ctr"/>
          <a:lstStyle/>
          <a:p>
            <a:pPr indent="0" marL="0">
              <a:lnSpc>
                <a:spcPct val="105000"/>
              </a:lnSpc>
              <a:buNone/>
            </a:pPr>
            <a:r>
              <a:rPr lang="en-US" sz="1300" b="1" dirty="0">
                <a:solidFill>
                  <a:srgbClr val="0B0D0E"/>
                </a:solidFill>
                <a:latin typeface="Arial" pitchFamily="34" charset="0"/>
                <a:ea typeface="Arial" pitchFamily="34" charset="-122"/>
                <a:cs typeface="Arial" pitchFamily="34" charset="-120"/>
              </a:rPr>
              <a:t>On-site visit</a:t>
            </a:r>
            <a:endParaRPr lang="en-US" sz="1300" dirty="0"/>
          </a:p>
        </p:txBody>
      </p:sp>
      <p:sp>
        <p:nvSpPr>
          <p:cNvPr id="17" name="Text 15"/>
          <p:cNvSpPr txBox="1"/>
          <p:nvPr/>
        </p:nvSpPr>
        <p:spPr>
          <a:xfrm>
            <a:off x="5376672" y="4590288"/>
            <a:ext cx="1645920" cy="960120"/>
          </a:xfrm>
          <a:prstGeom prst="rect">
            <a:avLst/>
          </a:prstGeom>
          <a:noFill/>
          <a:ln/>
        </p:spPr>
        <p:txBody>
          <a:bodyPr wrap="square" lIns="0" tIns="0" rIns="0" bIns="0" rtlCol="0" anchor="ctr"/>
          <a:lstStyle/>
          <a:p>
            <a:pPr indent="0" marL="0">
              <a:lnSpc>
                <a:spcPct val="115000"/>
              </a:lnSpc>
              <a:buNone/>
            </a:pPr>
            <a:r>
              <a:rPr lang="en-US" sz="1100" dirty="0">
                <a:solidFill>
                  <a:srgbClr val="605F5D"/>
                </a:solidFill>
                <a:latin typeface="Calibri" pitchFamily="34" charset="0"/>
                <a:ea typeface="Calibri" pitchFamily="34" charset="-122"/>
                <a:cs typeface="Calibri" pitchFamily="34" charset="-120"/>
              </a:rPr>
              <a:t>Access, volume and condition are what move a price. The real quote is given here, in person.</a:t>
            </a:r>
            <a:endParaRPr lang="en-US" sz="1100" dirty="0"/>
          </a:p>
        </p:txBody>
      </p:sp>
      <p:sp>
        <p:nvSpPr>
          <p:cNvPr id="18" name="Shape 16"/>
          <p:cNvSpPr/>
          <p:nvPr/>
        </p:nvSpPr>
        <p:spPr>
          <a:xfrm>
            <a:off x="7379208" y="3291840"/>
            <a:ext cx="2048256" cy="2423160"/>
          </a:xfrm>
          <a:prstGeom prst="rect">
            <a:avLst/>
          </a:prstGeom>
          <a:solidFill>
            <a:srgbClr val="FFFFFF"/>
          </a:solidFill>
          <a:ln/>
        </p:spPr>
      </p:sp>
      <p:sp>
        <p:nvSpPr>
          <p:cNvPr id="19" name="Text 17"/>
          <p:cNvSpPr txBox="1"/>
          <p:nvPr/>
        </p:nvSpPr>
        <p:spPr>
          <a:xfrm>
            <a:off x="7607808" y="3474720"/>
            <a:ext cx="1645920" cy="502920"/>
          </a:xfrm>
          <a:prstGeom prst="rect">
            <a:avLst/>
          </a:prstGeom>
          <a:noFill/>
          <a:ln/>
        </p:spPr>
        <p:txBody>
          <a:bodyPr wrap="square" lIns="0" tIns="0" rIns="0" bIns="0" rtlCol="0" anchor="ctr"/>
          <a:lstStyle/>
          <a:p>
            <a:pPr indent="0" marL="0">
              <a:buNone/>
            </a:pPr>
            <a:r>
              <a:rPr lang="en-US" sz="2600" b="1" dirty="0">
                <a:solidFill>
                  <a:srgbClr val="A91E23"/>
                </a:solidFill>
                <a:latin typeface="Arial" pitchFamily="34" charset="0"/>
                <a:ea typeface="Arial" pitchFamily="34" charset="-122"/>
                <a:cs typeface="Arial" pitchFamily="34" charset="-120"/>
              </a:rPr>
              <a:t>4</a:t>
            </a:r>
            <a:endParaRPr lang="en-US" sz="2600" dirty="0"/>
          </a:p>
        </p:txBody>
      </p:sp>
      <p:sp>
        <p:nvSpPr>
          <p:cNvPr id="20" name="Text 18"/>
          <p:cNvSpPr txBox="1"/>
          <p:nvPr/>
        </p:nvSpPr>
        <p:spPr>
          <a:xfrm>
            <a:off x="7607808" y="4005072"/>
            <a:ext cx="1645920" cy="548640"/>
          </a:xfrm>
          <a:prstGeom prst="rect">
            <a:avLst/>
          </a:prstGeom>
          <a:noFill/>
          <a:ln/>
        </p:spPr>
        <p:txBody>
          <a:bodyPr wrap="square" lIns="0" tIns="0" rIns="0" bIns="0" rtlCol="0" anchor="ctr"/>
          <a:lstStyle/>
          <a:p>
            <a:pPr indent="0" marL="0">
              <a:lnSpc>
                <a:spcPct val="105000"/>
              </a:lnSpc>
              <a:buNone/>
            </a:pPr>
            <a:r>
              <a:rPr lang="en-US" sz="1300" b="1" dirty="0">
                <a:solidFill>
                  <a:srgbClr val="0B0D0E"/>
                </a:solidFill>
                <a:latin typeface="Arial" pitchFamily="34" charset="0"/>
                <a:ea typeface="Arial" pitchFamily="34" charset="-122"/>
                <a:cs typeface="Arial" pitchFamily="34" charset="-120"/>
              </a:rPr>
              <a:t>The work</a:t>
            </a:r>
            <a:endParaRPr lang="en-US" sz="1300" dirty="0"/>
          </a:p>
        </p:txBody>
      </p:sp>
      <p:sp>
        <p:nvSpPr>
          <p:cNvPr id="21" name="Text 19"/>
          <p:cNvSpPr txBox="1"/>
          <p:nvPr/>
        </p:nvSpPr>
        <p:spPr>
          <a:xfrm>
            <a:off x="7607808" y="4590288"/>
            <a:ext cx="1645920" cy="960120"/>
          </a:xfrm>
          <a:prstGeom prst="rect">
            <a:avLst/>
          </a:prstGeom>
          <a:noFill/>
          <a:ln/>
        </p:spPr>
        <p:txBody>
          <a:bodyPr wrap="square" lIns="0" tIns="0" rIns="0" bIns="0" rtlCol="0" anchor="ctr"/>
          <a:lstStyle/>
          <a:p>
            <a:pPr indent="0" marL="0">
              <a:lnSpc>
                <a:spcPct val="115000"/>
              </a:lnSpc>
              <a:buNone/>
            </a:pPr>
            <a:r>
              <a:rPr lang="en-US" sz="1100" dirty="0">
                <a:solidFill>
                  <a:srgbClr val="605F5D"/>
                </a:solidFill>
                <a:latin typeface="Calibri" pitchFamily="34" charset="0"/>
                <a:ea typeface="Calibri" pitchFamily="34" charset="-122"/>
                <a:cs typeface="Calibri" pitchFamily="34" charset="-120"/>
              </a:rPr>
              <a:t>Cleared or taken down, sorted for donation and recycling where practical.</a:t>
            </a:r>
            <a:endParaRPr lang="en-US" sz="1100" dirty="0"/>
          </a:p>
        </p:txBody>
      </p:sp>
      <p:sp>
        <p:nvSpPr>
          <p:cNvPr id="22" name="Shape 20"/>
          <p:cNvSpPr/>
          <p:nvPr/>
        </p:nvSpPr>
        <p:spPr>
          <a:xfrm>
            <a:off x="9610344" y="3291840"/>
            <a:ext cx="2048256" cy="2423160"/>
          </a:xfrm>
          <a:prstGeom prst="rect">
            <a:avLst/>
          </a:prstGeom>
          <a:solidFill>
            <a:srgbClr val="FFFFFF"/>
          </a:solidFill>
          <a:ln/>
        </p:spPr>
      </p:sp>
      <p:sp>
        <p:nvSpPr>
          <p:cNvPr id="23" name="Text 21"/>
          <p:cNvSpPr txBox="1"/>
          <p:nvPr/>
        </p:nvSpPr>
        <p:spPr>
          <a:xfrm>
            <a:off x="9838944" y="3474720"/>
            <a:ext cx="1645920" cy="502920"/>
          </a:xfrm>
          <a:prstGeom prst="rect">
            <a:avLst/>
          </a:prstGeom>
          <a:noFill/>
          <a:ln/>
        </p:spPr>
        <p:txBody>
          <a:bodyPr wrap="square" lIns="0" tIns="0" rIns="0" bIns="0" rtlCol="0" anchor="ctr"/>
          <a:lstStyle/>
          <a:p>
            <a:pPr indent="0" marL="0">
              <a:buNone/>
            </a:pPr>
            <a:r>
              <a:rPr lang="en-US" sz="2600" b="1" dirty="0">
                <a:solidFill>
                  <a:srgbClr val="A91E23"/>
                </a:solidFill>
                <a:latin typeface="Arial" pitchFamily="34" charset="0"/>
                <a:ea typeface="Arial" pitchFamily="34" charset="-122"/>
                <a:cs typeface="Arial" pitchFamily="34" charset="-120"/>
              </a:rPr>
              <a:t>5</a:t>
            </a:r>
            <a:endParaRPr lang="en-US" sz="2600" dirty="0"/>
          </a:p>
        </p:txBody>
      </p:sp>
      <p:sp>
        <p:nvSpPr>
          <p:cNvPr id="24" name="Text 22"/>
          <p:cNvSpPr txBox="1"/>
          <p:nvPr/>
        </p:nvSpPr>
        <p:spPr>
          <a:xfrm>
            <a:off x="9838944" y="4005072"/>
            <a:ext cx="1645920" cy="548640"/>
          </a:xfrm>
          <a:prstGeom prst="rect">
            <a:avLst/>
          </a:prstGeom>
          <a:noFill/>
          <a:ln/>
        </p:spPr>
        <p:txBody>
          <a:bodyPr wrap="square" lIns="0" tIns="0" rIns="0" bIns="0" rtlCol="0" anchor="ctr"/>
          <a:lstStyle/>
          <a:p>
            <a:pPr indent="0" marL="0">
              <a:lnSpc>
                <a:spcPct val="105000"/>
              </a:lnSpc>
              <a:buNone/>
            </a:pPr>
            <a:r>
              <a:rPr lang="en-US" sz="1300" b="1" dirty="0">
                <a:solidFill>
                  <a:srgbClr val="0B0D0E"/>
                </a:solidFill>
                <a:latin typeface="Arial" pitchFamily="34" charset="0"/>
                <a:ea typeface="Arial" pitchFamily="34" charset="-122"/>
                <a:cs typeface="Arial" pitchFamily="34" charset="-120"/>
              </a:rPr>
              <a:t>Final walkthrough</a:t>
            </a:r>
            <a:endParaRPr lang="en-US" sz="1300" dirty="0"/>
          </a:p>
        </p:txBody>
      </p:sp>
      <p:sp>
        <p:nvSpPr>
          <p:cNvPr id="25" name="Text 23"/>
          <p:cNvSpPr txBox="1"/>
          <p:nvPr/>
        </p:nvSpPr>
        <p:spPr>
          <a:xfrm>
            <a:off x="9838944" y="4590288"/>
            <a:ext cx="1645920" cy="960120"/>
          </a:xfrm>
          <a:prstGeom prst="rect">
            <a:avLst/>
          </a:prstGeom>
          <a:noFill/>
          <a:ln/>
        </p:spPr>
        <p:txBody>
          <a:bodyPr wrap="square" lIns="0" tIns="0" rIns="0" bIns="0" rtlCol="0" anchor="ctr"/>
          <a:lstStyle/>
          <a:p>
            <a:pPr indent="0" marL="0">
              <a:lnSpc>
                <a:spcPct val="115000"/>
              </a:lnSpc>
              <a:buNone/>
            </a:pPr>
            <a:r>
              <a:rPr lang="en-US" sz="1100" dirty="0">
                <a:solidFill>
                  <a:srgbClr val="605F5D"/>
                </a:solidFill>
                <a:latin typeface="Calibri" pitchFamily="34" charset="0"/>
                <a:ea typeface="Calibri" pitchFamily="34" charset="-122"/>
                <a:cs typeface="Calibri" pitchFamily="34" charset="-120"/>
              </a:rPr>
              <a:t>Walked with you at completion, against what was quoted.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D0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GOOGLE BUSINESS PROFILE</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FFFFFF"/>
                </a:solidFill>
                <a:latin typeface="Arial" pitchFamily="34" charset="0"/>
                <a:ea typeface="Arial" pitchFamily="34" charset="-122"/>
                <a:cs typeface="Arial" pitchFamily="34" charset="-120"/>
              </a:rPr>
              <a:t>The biggest lever on your phone ringing.</a:t>
            </a:r>
            <a:endParaRPr lang="en-US" sz="3100" dirty="0"/>
          </a:p>
        </p:txBody>
      </p:sp>
      <p:sp>
        <p:nvSpPr>
          <p:cNvPr id="4" name="Shape 2"/>
          <p:cNvSpPr/>
          <p:nvPr/>
        </p:nvSpPr>
        <p:spPr>
          <a:xfrm>
            <a:off x="685800" y="1737360"/>
            <a:ext cx="1463040" cy="32004"/>
          </a:xfrm>
          <a:prstGeom prst="rect">
            <a:avLst/>
          </a:prstGeom>
          <a:solidFill>
            <a:srgbClr val="C32C26"/>
          </a:solidFill>
          <a:ln/>
        </p:spPr>
      </p:sp>
      <p:sp>
        <p:nvSpPr>
          <p:cNvPr id="5" name="Text 3"/>
          <p:cNvSpPr txBox="1"/>
          <p:nvPr/>
        </p:nvSpPr>
        <p:spPr>
          <a:xfrm>
            <a:off x="685800" y="2084832"/>
            <a:ext cx="10789920" cy="822960"/>
          </a:xfrm>
          <a:prstGeom prst="rect">
            <a:avLst/>
          </a:prstGeom>
          <a:noFill/>
          <a:ln/>
        </p:spPr>
        <p:txBody>
          <a:bodyPr wrap="square" lIns="0" tIns="0" rIns="0" bIns="0" rtlCol="0" anchor="t"/>
          <a:lstStyle/>
          <a:p>
            <a:pPr algn="l" indent="0" marL="0">
              <a:lnSpc>
                <a:spcPct val="125000"/>
              </a:lnSpc>
              <a:buNone/>
            </a:pPr>
            <a:r>
              <a:rPr lang="en-US" sz="1450" dirty="0">
                <a:solidFill>
                  <a:srgbClr val="B8B5B1"/>
                </a:solidFill>
                <a:latin typeface="Calibri" pitchFamily="34" charset="0"/>
                <a:ea typeface="Calibri" pitchFamily="34" charset="-122"/>
                <a:cs typeface="Calibri" pitchFamily="34" charset="-120"/>
              </a:rPr>
              <a:t>Your existing Business Manager account turned out to be an empty shell — both of you listed as admins on a listing that did not exist anywhere on Search or Maps. We built a new one properly instead of troubleshooting a dead end.</a:t>
            </a:r>
            <a:endParaRPr lang="en-US" sz="1450" dirty="0"/>
          </a:p>
        </p:txBody>
      </p:sp>
      <p:sp>
        <p:nvSpPr>
          <p:cNvPr id="6" name="Shape 4"/>
          <p:cNvSpPr/>
          <p:nvPr/>
        </p:nvSpPr>
        <p:spPr>
          <a:xfrm>
            <a:off x="685800" y="3200400"/>
            <a:ext cx="5349240" cy="2880360"/>
          </a:xfrm>
          <a:prstGeom prst="rect">
            <a:avLst/>
          </a:prstGeom>
          <a:solidFill>
            <a:srgbClr val="16191B"/>
          </a:solidFill>
          <a:ln/>
        </p:spPr>
      </p:sp>
      <p:sp>
        <p:nvSpPr>
          <p:cNvPr id="7" name="Text 5"/>
          <p:cNvSpPr txBox="1"/>
          <p:nvPr/>
        </p:nvSpPr>
        <p:spPr>
          <a:xfrm>
            <a:off x="960120" y="3429000"/>
            <a:ext cx="365760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Arial" pitchFamily="34" charset="0"/>
                <a:ea typeface="Arial" pitchFamily="34" charset="-122"/>
                <a:cs typeface="Arial" pitchFamily="34" charset="-120"/>
              </a:rPr>
              <a:t>DONE</a:t>
            </a:r>
            <a:endParaRPr lang="en-US" sz="1000" dirty="0"/>
          </a:p>
        </p:txBody>
      </p:sp>
      <p:sp>
        <p:nvSpPr>
          <p:cNvPr id="8" name="Text 6"/>
          <p:cNvSpPr txBox="1"/>
          <p:nvPr/>
        </p:nvSpPr>
        <p:spPr>
          <a:xfrm>
            <a:off x="960120" y="3794760"/>
            <a:ext cx="4800600" cy="210312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250" dirty="0">
                <a:solidFill>
                  <a:srgbClr val="D8D5D1"/>
                </a:solidFill>
                <a:latin typeface="Calibri" pitchFamily="34" charset="0"/>
                <a:ea typeface="Calibri" pitchFamily="34" charset="-122"/>
                <a:cs typeface="Calibri" pitchFamily="34" charset="-120"/>
              </a:rPr>
              <a:t>Service-area business, address hidden — no fake storefront for Google to flag</a:t>
            </a:r>
            <a:endParaRPr lang="en-US" sz="1250" dirty="0"/>
          </a:p>
          <a:p>
            <a:pPr marL="342900" indent="-342900">
              <a:lnSpc>
                <a:spcPct val="115000"/>
              </a:lnSpc>
              <a:spcAft>
                <a:spcPts val="700"/>
              </a:spcAft>
              <a:buSzPct val="100000"/>
              <a:buChar char="•"/>
            </a:pPr>
            <a:r>
              <a:rPr lang="en-US" sz="1250" dirty="0">
                <a:solidFill>
                  <a:srgbClr val="D8D5D1"/>
                </a:solidFill>
                <a:latin typeface="Calibri" pitchFamily="34" charset="0"/>
                <a:ea typeface="Calibri" pitchFamily="34" charset="-122"/>
                <a:cs typeface="Calibri" pitchFamily="34" charset="-120"/>
              </a:rPr>
              <a:t>Junk removal service (primary) + Demolition contractor (secondary)</a:t>
            </a:r>
            <a:endParaRPr lang="en-US" sz="1250" dirty="0"/>
          </a:p>
          <a:p>
            <a:pPr marL="342900" indent="-342900">
              <a:lnSpc>
                <a:spcPct val="115000"/>
              </a:lnSpc>
              <a:spcAft>
                <a:spcPts val="700"/>
              </a:spcAft>
              <a:buSzPct val="100000"/>
              <a:buChar char="•"/>
            </a:pPr>
            <a:r>
              <a:rPr lang="en-US" sz="1250" dirty="0">
                <a:solidFill>
                  <a:srgbClr val="D8D5D1"/>
                </a:solidFill>
                <a:latin typeface="Calibri" pitchFamily="34" charset="0"/>
                <a:ea typeface="Calibri" pitchFamily="34" charset="-122"/>
                <a:cs typeface="Calibri" pitchFamily="34" charset="-120"/>
              </a:rPr>
              <a:t>All 7 counties set as the service area</a:t>
            </a:r>
            <a:endParaRPr lang="en-US" sz="1250" dirty="0"/>
          </a:p>
          <a:p>
            <a:pPr marL="342900" indent="-342900">
              <a:lnSpc>
                <a:spcPct val="115000"/>
              </a:lnSpc>
              <a:spcAft>
                <a:spcPts val="700"/>
              </a:spcAft>
              <a:buSzPct val="100000"/>
              <a:buChar char="•"/>
            </a:pPr>
            <a:r>
              <a:rPr lang="en-US" sz="1250" dirty="0">
                <a:solidFill>
                  <a:srgbClr val="D8D5D1"/>
                </a:solidFill>
                <a:latin typeface="Calibri" pitchFamily="34" charset="0"/>
                <a:ea typeface="Calibri" pitchFamily="34" charset="-122"/>
                <a:cs typeface="Calibri" pitchFamily="34" charset="-120"/>
              </a:rPr>
              <a:t>Open 24 hours, phone (248) 321-9609, website linked</a:t>
            </a:r>
            <a:endParaRPr lang="en-US" sz="1250" dirty="0"/>
          </a:p>
          <a:p>
            <a:pPr marL="342900" indent="-342900">
              <a:lnSpc>
                <a:spcPct val="115000"/>
              </a:lnSpc>
              <a:spcAft>
                <a:spcPts val="700"/>
              </a:spcAft>
              <a:buSzPct val="100000"/>
              <a:buChar char="•"/>
            </a:pPr>
            <a:r>
              <a:rPr lang="en-US" sz="1250" dirty="0">
                <a:solidFill>
                  <a:srgbClr val="D8D5D1"/>
                </a:solidFill>
                <a:latin typeface="Calibri" pitchFamily="34" charset="0"/>
                <a:ea typeface="Calibri" pitchFamily="34" charset="-122"/>
                <a:cs typeface="Calibri" pitchFamily="34" charset="-120"/>
              </a:rPr>
              <a:t>Description written; 2 real job photos uploaded; email Dante@redemptioncleanoutservices.com on file</a:t>
            </a:r>
            <a:endParaRPr lang="en-US" sz="1250" dirty="0"/>
          </a:p>
        </p:txBody>
      </p:sp>
      <p:sp>
        <p:nvSpPr>
          <p:cNvPr id="9" name="Shape 7"/>
          <p:cNvSpPr/>
          <p:nvPr/>
        </p:nvSpPr>
        <p:spPr>
          <a:xfrm>
            <a:off x="6355080" y="3200400"/>
            <a:ext cx="5120640" cy="2880360"/>
          </a:xfrm>
          <a:prstGeom prst="rect">
            <a:avLst/>
          </a:prstGeom>
          <a:solidFill>
            <a:srgbClr val="A91E23"/>
          </a:solidFill>
          <a:ln/>
        </p:spPr>
      </p:sp>
      <p:sp>
        <p:nvSpPr>
          <p:cNvPr id="10" name="Text 8"/>
          <p:cNvSpPr txBox="1"/>
          <p:nvPr/>
        </p:nvSpPr>
        <p:spPr>
          <a:xfrm>
            <a:off x="6629400" y="3429000"/>
            <a:ext cx="4572000" cy="274320"/>
          </a:xfrm>
          <a:prstGeom prst="rect">
            <a:avLst/>
          </a:prstGeom>
          <a:noFill/>
          <a:ln/>
        </p:spPr>
        <p:txBody>
          <a:bodyPr wrap="square" lIns="0" tIns="0" rIns="0" bIns="0" rtlCol="0" anchor="ctr"/>
          <a:lstStyle/>
          <a:p>
            <a:pPr indent="0" marL="0">
              <a:buNone/>
            </a:pPr>
            <a:r>
              <a:rPr lang="en-US" sz="1000" b="1" spc="200" kern="0" dirty="0">
                <a:solidFill>
                  <a:srgbClr val="FFFFFF"/>
                </a:solidFill>
                <a:latin typeface="Arial" pitchFamily="34" charset="0"/>
                <a:ea typeface="Arial" pitchFamily="34" charset="-122"/>
                <a:cs typeface="Arial" pitchFamily="34" charset="-120"/>
              </a:rPr>
              <a:t>WAITING ON THE POSTCARD</a:t>
            </a:r>
            <a:endParaRPr lang="en-US" sz="1000" dirty="0"/>
          </a:p>
        </p:txBody>
      </p:sp>
      <p:sp>
        <p:nvSpPr>
          <p:cNvPr id="11" name="Text 9"/>
          <p:cNvSpPr txBox="1"/>
          <p:nvPr/>
        </p:nvSpPr>
        <p:spPr>
          <a:xfrm>
            <a:off x="6629400" y="3794760"/>
            <a:ext cx="4572000" cy="210312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Postcard with the verification code is in transit — until the code is entered, the listing is invisible on Search and Maps</a:t>
            </a:r>
            <a:endParaRPr lang="en-US" sz="1250" dirty="0"/>
          </a:p>
          <a:p>
            <a:pPr marL="342900" indent="-342900">
              <a:lnSpc>
                <a:spcPct val="115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Logo and 3 more photos are in hand on our side and go up as soon as the listing is verified</a:t>
            </a:r>
            <a:endParaRPr lang="en-US" sz="1250" dirty="0"/>
          </a:p>
          <a:p>
            <a:pPr marL="342900" indent="-342900">
              <a:lnSpc>
                <a:spcPct val="115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Review link goes live the moment the profile is verified</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A POLICY, NOT A GAP</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Some things on this site are deliberately empty.</a:t>
            </a:r>
            <a:endParaRPr lang="en-US" sz="3100" dirty="0"/>
          </a:p>
        </p:txBody>
      </p:sp>
      <p:sp>
        <p:nvSpPr>
          <p:cNvPr id="4" name="Shape 2"/>
          <p:cNvSpPr/>
          <p:nvPr/>
        </p:nvSpPr>
        <p:spPr>
          <a:xfrm>
            <a:off x="685800" y="1783080"/>
            <a:ext cx="1463040" cy="32004"/>
          </a:xfrm>
          <a:prstGeom prst="rect">
            <a:avLst/>
          </a:prstGeom>
          <a:solidFill>
            <a:srgbClr val="C32C26"/>
          </a:solidFill>
          <a:ln/>
        </p:spPr>
      </p:sp>
      <p:sp>
        <p:nvSpPr>
          <p:cNvPr id="5" name="Text 3"/>
          <p:cNvSpPr txBox="1"/>
          <p:nvPr/>
        </p:nvSpPr>
        <p:spPr>
          <a:xfrm>
            <a:off x="685800" y="2103120"/>
            <a:ext cx="10789920" cy="77724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If you look at the reviews page or the online request form and see nothing there, that is the policy working — not work left undone. Nothing on this site is invented, and automated tests fail the build if anyone tries.</a:t>
            </a:r>
            <a:endParaRPr lang="en-US" sz="1500" dirty="0"/>
          </a:p>
        </p:txBody>
      </p:sp>
      <p:sp>
        <p:nvSpPr>
          <p:cNvPr id="6" name="Shape 4"/>
          <p:cNvSpPr/>
          <p:nvPr/>
        </p:nvSpPr>
        <p:spPr>
          <a:xfrm>
            <a:off x="685800" y="3108960"/>
            <a:ext cx="5257800" cy="1417320"/>
          </a:xfrm>
          <a:prstGeom prst="rect">
            <a:avLst/>
          </a:prstGeom>
          <a:solidFill>
            <a:srgbClr val="E5E1DE"/>
          </a:solidFill>
          <a:ln/>
        </p:spPr>
      </p:sp>
      <p:sp>
        <p:nvSpPr>
          <p:cNvPr id="7" name="Text 5"/>
          <p:cNvSpPr txBox="1"/>
          <p:nvPr/>
        </p:nvSpPr>
        <p:spPr>
          <a:xfrm>
            <a:off x="960120" y="3310128"/>
            <a:ext cx="4709160" cy="320040"/>
          </a:xfrm>
          <a:prstGeom prst="rect">
            <a:avLst/>
          </a:prstGeom>
          <a:noFill/>
          <a:ln/>
        </p:spPr>
        <p:txBody>
          <a:bodyPr wrap="square" lIns="0" tIns="0" rIns="0" bIns="0" rtlCol="0" anchor="ctr"/>
          <a:lstStyle/>
          <a:p>
            <a:pPr indent="0" marL="0">
              <a:buNone/>
            </a:pPr>
            <a:r>
              <a:rPr lang="en-US" sz="1400" b="1" dirty="0">
                <a:solidFill>
                  <a:srgbClr val="0B0D0E"/>
                </a:solidFill>
                <a:latin typeface="Arial" pitchFamily="34" charset="0"/>
                <a:ea typeface="Arial" pitchFamily="34" charset="-122"/>
                <a:cs typeface="Arial" pitchFamily="34" charset="-120"/>
              </a:rPr>
              <a:t>No fabricated reviews or star ratings</a:t>
            </a:r>
            <a:endParaRPr lang="en-US" sz="1400" dirty="0"/>
          </a:p>
        </p:txBody>
      </p:sp>
      <p:sp>
        <p:nvSpPr>
          <p:cNvPr id="8" name="Text 6"/>
          <p:cNvSpPr txBox="1"/>
          <p:nvPr/>
        </p:nvSpPr>
        <p:spPr>
          <a:xfrm>
            <a:off x="960120" y="3675888"/>
            <a:ext cx="4709160" cy="731520"/>
          </a:xfrm>
          <a:prstGeom prst="rect">
            <a:avLst/>
          </a:prstGeom>
          <a:noFill/>
          <a:ln/>
        </p:spPr>
        <p:txBody>
          <a:bodyPr wrap="square" lIns="0" tIns="0" rIns="0" bIns="0" rtlCol="0" anchor="ctr"/>
          <a:lstStyle/>
          <a:p>
            <a:pPr indent="0" marL="0">
              <a:lnSpc>
                <a:spcPct val="115000"/>
              </a:lnSpc>
              <a:buNone/>
            </a:pPr>
            <a:r>
              <a:rPr lang="en-US" sz="1250" dirty="0">
                <a:solidFill>
                  <a:srgbClr val="605F5D"/>
                </a:solidFill>
                <a:latin typeface="Calibri" pitchFamily="34" charset="0"/>
                <a:ea typeface="Calibri" pitchFamily="34" charset="-122"/>
                <a:cs typeface="Calibri" pitchFamily="34" charset="-120"/>
              </a:rPr>
              <a:t>The reviews page stays empty until real ones exist. Fake ratings are a Google penalty waiting to happen.</a:t>
            </a:r>
            <a:endParaRPr lang="en-US" sz="1250" dirty="0"/>
          </a:p>
        </p:txBody>
      </p:sp>
      <p:sp>
        <p:nvSpPr>
          <p:cNvPr id="9" name="Shape 7"/>
          <p:cNvSpPr/>
          <p:nvPr/>
        </p:nvSpPr>
        <p:spPr>
          <a:xfrm>
            <a:off x="6263640" y="3108960"/>
            <a:ext cx="5257800" cy="1417320"/>
          </a:xfrm>
          <a:prstGeom prst="rect">
            <a:avLst/>
          </a:prstGeom>
          <a:solidFill>
            <a:srgbClr val="E5E1DE"/>
          </a:solidFill>
          <a:ln/>
        </p:spPr>
      </p:sp>
      <p:sp>
        <p:nvSpPr>
          <p:cNvPr id="10" name="Text 8"/>
          <p:cNvSpPr txBox="1"/>
          <p:nvPr/>
        </p:nvSpPr>
        <p:spPr>
          <a:xfrm>
            <a:off x="6537960" y="3310128"/>
            <a:ext cx="4709160" cy="320040"/>
          </a:xfrm>
          <a:prstGeom prst="rect">
            <a:avLst/>
          </a:prstGeom>
          <a:noFill/>
          <a:ln/>
        </p:spPr>
        <p:txBody>
          <a:bodyPr wrap="square" lIns="0" tIns="0" rIns="0" bIns="0" rtlCol="0" anchor="ctr"/>
          <a:lstStyle/>
          <a:p>
            <a:pPr indent="0" marL="0">
              <a:buNone/>
            </a:pPr>
            <a:r>
              <a:rPr lang="en-US" sz="1400" b="1" dirty="0">
                <a:solidFill>
                  <a:srgbClr val="0B0D0E"/>
                </a:solidFill>
                <a:latin typeface="Arial" pitchFamily="34" charset="0"/>
                <a:ea typeface="Arial" pitchFamily="34" charset="-122"/>
                <a:cs typeface="Arial" pitchFamily="34" charset="-120"/>
              </a:rPr>
              <a:t>No stock photography</a:t>
            </a:r>
            <a:endParaRPr lang="en-US" sz="1400" dirty="0"/>
          </a:p>
        </p:txBody>
      </p:sp>
      <p:sp>
        <p:nvSpPr>
          <p:cNvPr id="11" name="Text 9"/>
          <p:cNvSpPr txBox="1"/>
          <p:nvPr/>
        </p:nvSpPr>
        <p:spPr>
          <a:xfrm>
            <a:off x="6537960" y="3675888"/>
            <a:ext cx="4709160" cy="731520"/>
          </a:xfrm>
          <a:prstGeom prst="rect">
            <a:avLst/>
          </a:prstGeom>
          <a:noFill/>
          <a:ln/>
        </p:spPr>
        <p:txBody>
          <a:bodyPr wrap="square" lIns="0" tIns="0" rIns="0" bIns="0" rtlCol="0" anchor="ctr"/>
          <a:lstStyle/>
          <a:p>
            <a:pPr indent="0" marL="0">
              <a:lnSpc>
                <a:spcPct val="115000"/>
              </a:lnSpc>
              <a:buNone/>
            </a:pPr>
            <a:r>
              <a:rPr lang="en-US" sz="1250" dirty="0">
                <a:solidFill>
                  <a:srgbClr val="605F5D"/>
                </a:solidFill>
                <a:latin typeface="Calibri" pitchFamily="34" charset="0"/>
                <a:ea typeface="Calibri" pitchFamily="34" charset="-122"/>
                <a:cs typeface="Calibri" pitchFamily="34" charset="-120"/>
              </a:rPr>
              <a:t>Every image is a Redemption job.</a:t>
            </a:r>
            <a:endParaRPr lang="en-US" sz="1250" dirty="0"/>
          </a:p>
        </p:txBody>
      </p:sp>
      <p:sp>
        <p:nvSpPr>
          <p:cNvPr id="12" name="Shape 10"/>
          <p:cNvSpPr/>
          <p:nvPr/>
        </p:nvSpPr>
        <p:spPr>
          <a:xfrm>
            <a:off x="685800" y="4800600"/>
            <a:ext cx="5257800" cy="1417320"/>
          </a:xfrm>
          <a:prstGeom prst="rect">
            <a:avLst/>
          </a:prstGeom>
          <a:solidFill>
            <a:srgbClr val="E5E1DE"/>
          </a:solidFill>
          <a:ln/>
        </p:spPr>
      </p:sp>
      <p:sp>
        <p:nvSpPr>
          <p:cNvPr id="13" name="Text 11"/>
          <p:cNvSpPr txBox="1"/>
          <p:nvPr/>
        </p:nvSpPr>
        <p:spPr>
          <a:xfrm>
            <a:off x="960120" y="5001768"/>
            <a:ext cx="4709160" cy="320040"/>
          </a:xfrm>
          <a:prstGeom prst="rect">
            <a:avLst/>
          </a:prstGeom>
          <a:noFill/>
          <a:ln/>
        </p:spPr>
        <p:txBody>
          <a:bodyPr wrap="square" lIns="0" tIns="0" rIns="0" bIns="0" rtlCol="0" anchor="ctr"/>
          <a:lstStyle/>
          <a:p>
            <a:pPr indent="0" marL="0">
              <a:buNone/>
            </a:pPr>
            <a:r>
              <a:rPr lang="en-US" sz="1400" b="1" dirty="0">
                <a:solidFill>
                  <a:srgbClr val="0B0D0E"/>
                </a:solidFill>
                <a:latin typeface="Arial" pitchFamily="34" charset="0"/>
                <a:ea typeface="Arial" pitchFamily="34" charset="-122"/>
                <a:cs typeface="Arial" pitchFamily="34" charset="-120"/>
              </a:rPr>
              <a:t>The request form refuses to fake it</a:t>
            </a:r>
            <a:endParaRPr lang="en-US" sz="1400" dirty="0"/>
          </a:p>
        </p:txBody>
      </p:sp>
      <p:sp>
        <p:nvSpPr>
          <p:cNvPr id="14" name="Text 12"/>
          <p:cNvSpPr txBox="1"/>
          <p:nvPr/>
        </p:nvSpPr>
        <p:spPr>
          <a:xfrm>
            <a:off x="960120" y="5367528"/>
            <a:ext cx="4709160" cy="731520"/>
          </a:xfrm>
          <a:prstGeom prst="rect">
            <a:avLst/>
          </a:prstGeom>
          <a:noFill/>
          <a:ln/>
        </p:spPr>
        <p:txBody>
          <a:bodyPr wrap="square" lIns="0" tIns="0" rIns="0" bIns="0" rtlCol="0" anchor="ctr"/>
          <a:lstStyle/>
          <a:p>
            <a:pPr indent="0" marL="0">
              <a:lnSpc>
                <a:spcPct val="115000"/>
              </a:lnSpc>
              <a:buNone/>
            </a:pPr>
            <a:r>
              <a:rPr lang="en-US" sz="1250" dirty="0">
                <a:solidFill>
                  <a:srgbClr val="605F5D"/>
                </a:solidFill>
                <a:latin typeface="Calibri" pitchFamily="34" charset="0"/>
                <a:ea typeface="Calibri" pitchFamily="34" charset="-122"/>
                <a:cs typeface="Calibri" pitchFamily="34" charset="-120"/>
              </a:rPr>
              <a:t>Until Jobber is connected it shows working call and text buttons instead of a form that looks live but goes nowhere.</a:t>
            </a:r>
            <a:endParaRPr lang="en-US" sz="1250" dirty="0"/>
          </a:p>
        </p:txBody>
      </p:sp>
      <p:sp>
        <p:nvSpPr>
          <p:cNvPr id="15" name="Shape 13"/>
          <p:cNvSpPr/>
          <p:nvPr/>
        </p:nvSpPr>
        <p:spPr>
          <a:xfrm>
            <a:off x="6263640" y="4800600"/>
            <a:ext cx="5257800" cy="1417320"/>
          </a:xfrm>
          <a:prstGeom prst="rect">
            <a:avLst/>
          </a:prstGeom>
          <a:solidFill>
            <a:srgbClr val="E5E1DE"/>
          </a:solidFill>
          <a:ln/>
        </p:spPr>
      </p:sp>
      <p:sp>
        <p:nvSpPr>
          <p:cNvPr id="16" name="Text 14"/>
          <p:cNvSpPr txBox="1"/>
          <p:nvPr/>
        </p:nvSpPr>
        <p:spPr>
          <a:xfrm>
            <a:off x="6537960" y="5001768"/>
            <a:ext cx="4709160" cy="320040"/>
          </a:xfrm>
          <a:prstGeom prst="rect">
            <a:avLst/>
          </a:prstGeom>
          <a:noFill/>
          <a:ln/>
        </p:spPr>
        <p:txBody>
          <a:bodyPr wrap="square" lIns="0" tIns="0" rIns="0" bIns="0" rtlCol="0" anchor="ctr"/>
          <a:lstStyle/>
          <a:p>
            <a:pPr indent="0" marL="0">
              <a:buNone/>
            </a:pPr>
            <a:r>
              <a:rPr lang="en-US" sz="1400" b="1" dirty="0">
                <a:solidFill>
                  <a:srgbClr val="0B0D0E"/>
                </a:solidFill>
                <a:latin typeface="Arial" pitchFamily="34" charset="0"/>
                <a:ea typeface="Arial" pitchFamily="34" charset="-122"/>
                <a:cs typeface="Arial" pitchFamily="34" charset="-120"/>
              </a:rPr>
              <a:t>Your street address is withheld</a:t>
            </a:r>
            <a:endParaRPr lang="en-US" sz="1400" dirty="0"/>
          </a:p>
        </p:txBody>
      </p:sp>
      <p:sp>
        <p:nvSpPr>
          <p:cNvPr id="17" name="Text 15"/>
          <p:cNvSpPr txBox="1"/>
          <p:nvPr/>
        </p:nvSpPr>
        <p:spPr>
          <a:xfrm>
            <a:off x="6537960" y="5367528"/>
            <a:ext cx="4709160" cy="731520"/>
          </a:xfrm>
          <a:prstGeom prst="rect">
            <a:avLst/>
          </a:prstGeom>
          <a:noFill/>
          <a:ln/>
        </p:spPr>
        <p:txBody>
          <a:bodyPr wrap="square" lIns="0" tIns="0" rIns="0" bIns="0" rtlCol="0" anchor="ctr"/>
          <a:lstStyle/>
          <a:p>
            <a:pPr indent="0" marL="0">
              <a:lnSpc>
                <a:spcPct val="115000"/>
              </a:lnSpc>
              <a:buNone/>
            </a:pPr>
            <a:r>
              <a:rPr lang="en-US" sz="1250" dirty="0">
                <a:solidFill>
                  <a:srgbClr val="605F5D"/>
                </a:solidFill>
                <a:latin typeface="Calibri" pitchFamily="34" charset="0"/>
                <a:ea typeface="Calibri" pitchFamily="34" charset="-122"/>
                <a:cs typeface="Calibri" pitchFamily="34" charset="-120"/>
              </a:rPr>
              <a:t>429 S Main appears nowhere public — on the site or on Google — until you decide it should.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E1D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MEASURED, NOT ASSERTED</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Google's own scorecard on the live site.</a:t>
            </a:r>
            <a:endParaRPr lang="en-US" sz="3100" dirty="0"/>
          </a:p>
        </p:txBody>
      </p:sp>
      <p:sp>
        <p:nvSpPr>
          <p:cNvPr id="4" name="Shape 2"/>
          <p:cNvSpPr/>
          <p:nvPr/>
        </p:nvSpPr>
        <p:spPr>
          <a:xfrm>
            <a:off x="685800" y="1783080"/>
            <a:ext cx="1463040" cy="32004"/>
          </a:xfrm>
          <a:prstGeom prst="rect">
            <a:avLst/>
          </a:prstGeom>
          <a:solidFill>
            <a:srgbClr val="C32C26"/>
          </a:solidFill>
          <a:ln/>
        </p:spPr>
      </p:sp>
      <p:sp>
        <p:nvSpPr>
          <p:cNvPr id="5" name="Shape 3"/>
          <p:cNvSpPr/>
          <p:nvPr/>
        </p:nvSpPr>
        <p:spPr>
          <a:xfrm>
            <a:off x="685800" y="2377440"/>
            <a:ext cx="2606040" cy="2377440"/>
          </a:xfrm>
          <a:prstGeom prst="rect">
            <a:avLst/>
          </a:prstGeom>
          <a:solidFill>
            <a:srgbClr val="FFFFFF"/>
          </a:solidFill>
          <a:ln/>
        </p:spPr>
      </p:sp>
      <p:sp>
        <p:nvSpPr>
          <p:cNvPr id="6" name="Text 4"/>
          <p:cNvSpPr txBox="1"/>
          <p:nvPr/>
        </p:nvSpPr>
        <p:spPr>
          <a:xfrm>
            <a:off x="941832" y="2633472"/>
            <a:ext cx="2103120" cy="868680"/>
          </a:xfrm>
          <a:prstGeom prst="rect">
            <a:avLst/>
          </a:prstGeom>
          <a:noFill/>
          <a:ln/>
        </p:spPr>
        <p:txBody>
          <a:bodyPr wrap="square" lIns="0" tIns="0" rIns="0" bIns="0" rtlCol="0" anchor="ctr"/>
          <a:lstStyle/>
          <a:p>
            <a:pPr indent="0" marL="0">
              <a:buNone/>
            </a:pPr>
            <a:r>
              <a:rPr lang="en-US" sz="4600" b="1" dirty="0">
                <a:solidFill>
                  <a:srgbClr val="0B0D0E"/>
                </a:solidFill>
                <a:latin typeface="Arial" pitchFamily="34" charset="0"/>
                <a:ea typeface="Arial" pitchFamily="34" charset="-122"/>
                <a:cs typeface="Arial" pitchFamily="34" charset="-120"/>
              </a:rPr>
              <a:t>100</a:t>
            </a:r>
            <a:endParaRPr lang="en-US" sz="4600" dirty="0"/>
          </a:p>
        </p:txBody>
      </p:sp>
      <p:sp>
        <p:nvSpPr>
          <p:cNvPr id="7" name="Text 5"/>
          <p:cNvSpPr txBox="1"/>
          <p:nvPr/>
        </p:nvSpPr>
        <p:spPr>
          <a:xfrm>
            <a:off x="941832" y="3547872"/>
            <a:ext cx="210312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ACCESSIBILITY</a:t>
            </a:r>
            <a:endParaRPr lang="en-US" sz="1000" dirty="0"/>
          </a:p>
        </p:txBody>
      </p:sp>
      <p:sp>
        <p:nvSpPr>
          <p:cNvPr id="8" name="Text 6"/>
          <p:cNvSpPr txBox="1"/>
          <p:nvPr/>
        </p:nvSpPr>
        <p:spPr>
          <a:xfrm>
            <a:off x="941832" y="3858768"/>
            <a:ext cx="2121408" cy="777240"/>
          </a:xfrm>
          <a:prstGeom prst="rect">
            <a:avLst/>
          </a:prstGeom>
          <a:noFill/>
          <a:ln/>
        </p:spPr>
        <p:txBody>
          <a:bodyPr wrap="square" lIns="0" tIns="0" rIns="0" bIns="0" rtlCol="0" anchor="ctr"/>
          <a:lstStyle/>
          <a:p>
            <a:pPr indent="0" marL="0">
              <a:lnSpc>
                <a:spcPct val="115000"/>
              </a:lnSpc>
              <a:buNone/>
            </a:pPr>
            <a:r>
              <a:rPr lang="en-US" sz="1150" dirty="0">
                <a:solidFill>
                  <a:srgbClr val="605F5D"/>
                </a:solidFill>
                <a:latin typeface="Calibri" pitchFamily="34" charset="0"/>
                <a:ea typeface="Calibri" pitchFamily="34" charset="-122"/>
                <a:cs typeface="Calibri" pitchFamily="34" charset="-120"/>
              </a:rPr>
              <a:t>Usable with a screen reader, a keyboard, or older eyes — which is much of estate and downsizing work.</a:t>
            </a:r>
            <a:endParaRPr lang="en-US" sz="1150" dirty="0"/>
          </a:p>
        </p:txBody>
      </p:sp>
      <p:sp>
        <p:nvSpPr>
          <p:cNvPr id="9" name="Shape 7"/>
          <p:cNvSpPr/>
          <p:nvPr/>
        </p:nvSpPr>
        <p:spPr>
          <a:xfrm>
            <a:off x="3474720" y="2377440"/>
            <a:ext cx="2606040" cy="2377440"/>
          </a:xfrm>
          <a:prstGeom prst="rect">
            <a:avLst/>
          </a:prstGeom>
          <a:solidFill>
            <a:srgbClr val="FFFFFF"/>
          </a:solidFill>
          <a:ln/>
        </p:spPr>
      </p:sp>
      <p:sp>
        <p:nvSpPr>
          <p:cNvPr id="10" name="Text 8"/>
          <p:cNvSpPr txBox="1"/>
          <p:nvPr/>
        </p:nvSpPr>
        <p:spPr>
          <a:xfrm>
            <a:off x="3730752" y="2633472"/>
            <a:ext cx="2103120" cy="868680"/>
          </a:xfrm>
          <a:prstGeom prst="rect">
            <a:avLst/>
          </a:prstGeom>
          <a:noFill/>
          <a:ln/>
        </p:spPr>
        <p:txBody>
          <a:bodyPr wrap="square" lIns="0" tIns="0" rIns="0" bIns="0" rtlCol="0" anchor="ctr"/>
          <a:lstStyle/>
          <a:p>
            <a:pPr indent="0" marL="0">
              <a:buNone/>
            </a:pPr>
            <a:r>
              <a:rPr lang="en-US" sz="4600" b="1" dirty="0">
                <a:solidFill>
                  <a:srgbClr val="0B0D0E"/>
                </a:solidFill>
                <a:latin typeface="Arial" pitchFamily="34" charset="0"/>
                <a:ea typeface="Arial" pitchFamily="34" charset="-122"/>
                <a:cs typeface="Arial" pitchFamily="34" charset="-120"/>
              </a:rPr>
              <a:t>100</a:t>
            </a:r>
            <a:endParaRPr lang="en-US" sz="4600" dirty="0"/>
          </a:p>
        </p:txBody>
      </p:sp>
      <p:sp>
        <p:nvSpPr>
          <p:cNvPr id="11" name="Text 9"/>
          <p:cNvSpPr txBox="1"/>
          <p:nvPr/>
        </p:nvSpPr>
        <p:spPr>
          <a:xfrm>
            <a:off x="3730752" y="3547872"/>
            <a:ext cx="210312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BEST PRACTICES</a:t>
            </a:r>
            <a:endParaRPr lang="en-US" sz="1000" dirty="0"/>
          </a:p>
        </p:txBody>
      </p:sp>
      <p:sp>
        <p:nvSpPr>
          <p:cNvPr id="12" name="Text 10"/>
          <p:cNvSpPr txBox="1"/>
          <p:nvPr/>
        </p:nvSpPr>
        <p:spPr>
          <a:xfrm>
            <a:off x="3730752" y="3858768"/>
            <a:ext cx="2121408" cy="777240"/>
          </a:xfrm>
          <a:prstGeom prst="rect">
            <a:avLst/>
          </a:prstGeom>
          <a:noFill/>
          <a:ln/>
        </p:spPr>
        <p:txBody>
          <a:bodyPr wrap="square" lIns="0" tIns="0" rIns="0" bIns="0" rtlCol="0" anchor="ctr"/>
          <a:lstStyle/>
          <a:p>
            <a:pPr indent="0" marL="0">
              <a:lnSpc>
                <a:spcPct val="115000"/>
              </a:lnSpc>
              <a:buNone/>
            </a:pPr>
            <a:r>
              <a:rPr lang="en-US" sz="1150" dirty="0">
                <a:solidFill>
                  <a:srgbClr val="605F5D"/>
                </a:solidFill>
                <a:latin typeface="Calibri" pitchFamily="34" charset="0"/>
                <a:ea typeface="Calibri" pitchFamily="34" charset="-122"/>
                <a:cs typeface="Calibri" pitchFamily="34" charset="-120"/>
              </a:rPr>
              <a:t>Security headers, HTTPS, no risky third-party code.</a:t>
            </a:r>
            <a:endParaRPr lang="en-US" sz="1150" dirty="0"/>
          </a:p>
        </p:txBody>
      </p:sp>
      <p:sp>
        <p:nvSpPr>
          <p:cNvPr id="13" name="Shape 11"/>
          <p:cNvSpPr/>
          <p:nvPr/>
        </p:nvSpPr>
        <p:spPr>
          <a:xfrm>
            <a:off x="6263640" y="2377440"/>
            <a:ext cx="2606040" cy="2377440"/>
          </a:xfrm>
          <a:prstGeom prst="rect">
            <a:avLst/>
          </a:prstGeom>
          <a:solidFill>
            <a:srgbClr val="FFFFFF"/>
          </a:solidFill>
          <a:ln/>
        </p:spPr>
      </p:sp>
      <p:sp>
        <p:nvSpPr>
          <p:cNvPr id="14" name="Text 12"/>
          <p:cNvSpPr txBox="1"/>
          <p:nvPr/>
        </p:nvSpPr>
        <p:spPr>
          <a:xfrm>
            <a:off x="6519672" y="2633472"/>
            <a:ext cx="2103120" cy="868680"/>
          </a:xfrm>
          <a:prstGeom prst="rect">
            <a:avLst/>
          </a:prstGeom>
          <a:noFill/>
          <a:ln/>
        </p:spPr>
        <p:txBody>
          <a:bodyPr wrap="square" lIns="0" tIns="0" rIns="0" bIns="0" rtlCol="0" anchor="ctr"/>
          <a:lstStyle/>
          <a:p>
            <a:pPr indent="0" marL="0">
              <a:buNone/>
            </a:pPr>
            <a:r>
              <a:rPr lang="en-US" sz="4600" b="1" dirty="0">
                <a:solidFill>
                  <a:srgbClr val="0B0D0E"/>
                </a:solidFill>
                <a:latin typeface="Arial" pitchFamily="34" charset="0"/>
                <a:ea typeface="Arial" pitchFamily="34" charset="-122"/>
                <a:cs typeface="Arial" pitchFamily="34" charset="-120"/>
              </a:rPr>
              <a:t>100</a:t>
            </a:r>
            <a:endParaRPr lang="en-US" sz="4600" dirty="0"/>
          </a:p>
        </p:txBody>
      </p:sp>
      <p:sp>
        <p:nvSpPr>
          <p:cNvPr id="15" name="Text 13"/>
          <p:cNvSpPr txBox="1"/>
          <p:nvPr/>
        </p:nvSpPr>
        <p:spPr>
          <a:xfrm>
            <a:off x="6519672" y="3547872"/>
            <a:ext cx="210312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SEO</a:t>
            </a:r>
            <a:endParaRPr lang="en-US" sz="1000" dirty="0"/>
          </a:p>
        </p:txBody>
      </p:sp>
      <p:sp>
        <p:nvSpPr>
          <p:cNvPr id="16" name="Text 14"/>
          <p:cNvSpPr txBox="1"/>
          <p:nvPr/>
        </p:nvSpPr>
        <p:spPr>
          <a:xfrm>
            <a:off x="6519672" y="3858768"/>
            <a:ext cx="2121408" cy="777240"/>
          </a:xfrm>
          <a:prstGeom prst="rect">
            <a:avLst/>
          </a:prstGeom>
          <a:noFill/>
          <a:ln/>
        </p:spPr>
        <p:txBody>
          <a:bodyPr wrap="square" lIns="0" tIns="0" rIns="0" bIns="0" rtlCol="0" anchor="ctr"/>
          <a:lstStyle/>
          <a:p>
            <a:pPr indent="0" marL="0">
              <a:lnSpc>
                <a:spcPct val="115000"/>
              </a:lnSpc>
              <a:buNone/>
            </a:pPr>
            <a:r>
              <a:rPr lang="en-US" sz="1150" dirty="0">
                <a:solidFill>
                  <a:srgbClr val="605F5D"/>
                </a:solidFill>
                <a:latin typeface="Calibri" pitchFamily="34" charset="0"/>
                <a:ea typeface="Calibri" pitchFamily="34" charset="-122"/>
                <a:cs typeface="Calibri" pitchFamily="34" charset="-120"/>
              </a:rPr>
              <a:t>Everything Google checks for automatically, in place on every page.</a:t>
            </a:r>
            <a:endParaRPr lang="en-US" sz="1150" dirty="0"/>
          </a:p>
        </p:txBody>
      </p:sp>
      <p:sp>
        <p:nvSpPr>
          <p:cNvPr id="17" name="Shape 15"/>
          <p:cNvSpPr/>
          <p:nvPr/>
        </p:nvSpPr>
        <p:spPr>
          <a:xfrm>
            <a:off x="9052560" y="2377440"/>
            <a:ext cx="2606040" cy="2377440"/>
          </a:xfrm>
          <a:prstGeom prst="rect">
            <a:avLst/>
          </a:prstGeom>
          <a:solidFill>
            <a:srgbClr val="FFFFFF"/>
          </a:solidFill>
          <a:ln/>
        </p:spPr>
      </p:sp>
      <p:sp>
        <p:nvSpPr>
          <p:cNvPr id="18" name="Text 16"/>
          <p:cNvSpPr txBox="1"/>
          <p:nvPr/>
        </p:nvSpPr>
        <p:spPr>
          <a:xfrm>
            <a:off x="9308592" y="2633472"/>
            <a:ext cx="2103120" cy="868680"/>
          </a:xfrm>
          <a:prstGeom prst="rect">
            <a:avLst/>
          </a:prstGeom>
          <a:noFill/>
          <a:ln/>
        </p:spPr>
        <p:txBody>
          <a:bodyPr wrap="square" lIns="0" tIns="0" rIns="0" bIns="0" rtlCol="0" anchor="ctr"/>
          <a:lstStyle/>
          <a:p>
            <a:pPr indent="0" marL="0">
              <a:buNone/>
            </a:pPr>
            <a:r>
              <a:rPr lang="en-US" sz="4600" b="1" dirty="0">
                <a:solidFill>
                  <a:srgbClr val="0B0D0E"/>
                </a:solidFill>
                <a:latin typeface="Arial" pitchFamily="34" charset="0"/>
                <a:ea typeface="Arial" pitchFamily="34" charset="-122"/>
                <a:cs typeface="Arial" pitchFamily="34" charset="-120"/>
              </a:rPr>
              <a:t>98</a:t>
            </a:r>
            <a:endParaRPr lang="en-US" sz="4600" dirty="0"/>
          </a:p>
        </p:txBody>
      </p:sp>
      <p:sp>
        <p:nvSpPr>
          <p:cNvPr id="19" name="Text 17"/>
          <p:cNvSpPr txBox="1"/>
          <p:nvPr/>
        </p:nvSpPr>
        <p:spPr>
          <a:xfrm>
            <a:off x="9308592" y="3547872"/>
            <a:ext cx="210312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PERFORMANCE</a:t>
            </a:r>
            <a:endParaRPr lang="en-US" sz="1000" dirty="0"/>
          </a:p>
        </p:txBody>
      </p:sp>
      <p:sp>
        <p:nvSpPr>
          <p:cNvPr id="20" name="Text 18"/>
          <p:cNvSpPr txBox="1"/>
          <p:nvPr/>
        </p:nvSpPr>
        <p:spPr>
          <a:xfrm>
            <a:off x="9308592" y="3858768"/>
            <a:ext cx="2121408" cy="777240"/>
          </a:xfrm>
          <a:prstGeom prst="rect">
            <a:avLst/>
          </a:prstGeom>
          <a:noFill/>
          <a:ln/>
        </p:spPr>
        <p:txBody>
          <a:bodyPr wrap="square" lIns="0" tIns="0" rIns="0" bIns="0" rtlCol="0" anchor="ctr"/>
          <a:lstStyle/>
          <a:p>
            <a:pPr indent="0" marL="0">
              <a:lnSpc>
                <a:spcPct val="115000"/>
              </a:lnSpc>
              <a:buNone/>
            </a:pPr>
            <a:r>
              <a:rPr lang="en-US" sz="1150" dirty="0">
                <a:solidFill>
                  <a:srgbClr val="605F5D"/>
                </a:solidFill>
                <a:latin typeface="Calibri" pitchFamily="34" charset="0"/>
                <a:ea typeface="Calibri" pitchFamily="34" charset="-122"/>
                <a:cs typeface="Calibri" pitchFamily="34" charset="-120"/>
              </a:rPr>
              <a:t>Desktop. 96 on mobile — both measured, not estimated.</a:t>
            </a:r>
            <a:endParaRPr lang="en-US" sz="1150" dirty="0"/>
          </a:p>
        </p:txBody>
      </p:sp>
      <p:sp>
        <p:nvSpPr>
          <p:cNvPr id="21" name="Text 19"/>
          <p:cNvSpPr txBox="1"/>
          <p:nvPr/>
        </p:nvSpPr>
        <p:spPr>
          <a:xfrm>
            <a:off x="685800" y="5074920"/>
            <a:ext cx="10789920" cy="1188720"/>
          </a:xfrm>
          <a:prstGeom prst="rect">
            <a:avLst/>
          </a:prstGeom>
          <a:noFill/>
          <a:ln/>
        </p:spPr>
        <p:txBody>
          <a:bodyPr wrap="square" lIns="0" tIns="0" rIns="0" bIns="0" rtlCol="0" anchor="t"/>
          <a:lstStyle/>
          <a:p>
            <a:pPr algn="l" indent="0" marL="0">
              <a:lnSpc>
                <a:spcPct val="125000"/>
              </a:lnSpc>
              <a:buNone/>
            </a:pPr>
            <a:r>
              <a:rPr lang="en-US" sz="1400" dirty="0">
                <a:solidFill>
                  <a:srgbClr val="605F5D"/>
                </a:solidFill>
                <a:latin typeface="Calibri" pitchFamily="34" charset="0"/>
                <a:ea typeface="Calibri" pitchFamily="34" charset="-122"/>
                <a:cs typeface="Calibri" pitchFamily="34" charset="-120"/>
              </a:rPr>
              <a:t>Measured with Google Lighthouse against the production build of the current site, desktop and mobile. Every page was also swept for accessibility faults at phone and desktop width — clean. 35 automated tests run on every change, including one that fails the build if your street address is ever rendered publicly.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0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FFFFFF"/>
                </a:solidFill>
                <a:latin typeface="Arial" pitchFamily="34" charset="0"/>
                <a:ea typeface="Arial" pitchFamily="34" charset="-122"/>
                <a:cs typeface="Arial" pitchFamily="34" charset="-120"/>
              </a:rPr>
              <a:t>OVER TO YOU</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000" b="1" spc="50" kern="0" dirty="0">
                <a:solidFill>
                  <a:srgbClr val="FFFFFF"/>
                </a:solidFill>
                <a:latin typeface="Arial" pitchFamily="34" charset="0"/>
                <a:ea typeface="Arial" pitchFamily="34" charset="-122"/>
                <a:cs typeface="Arial" pitchFamily="34" charset="-120"/>
              </a:rPr>
              <a:t>Seven things. Six take minutes; one needs a shoot.</a:t>
            </a:r>
            <a:endParaRPr lang="en-US" sz="3000" dirty="0"/>
          </a:p>
        </p:txBody>
      </p:sp>
      <p:sp>
        <p:nvSpPr>
          <p:cNvPr id="4" name="Shape 2"/>
          <p:cNvSpPr/>
          <p:nvPr/>
        </p:nvSpPr>
        <p:spPr>
          <a:xfrm>
            <a:off x="685800" y="1783080"/>
            <a:ext cx="1463040" cy="32004"/>
          </a:xfrm>
          <a:prstGeom prst="rect">
            <a:avLst/>
          </a:prstGeom>
          <a:solidFill>
            <a:srgbClr val="C32C26"/>
          </a:solidFill>
          <a:ln/>
        </p:spPr>
      </p:sp>
      <p:sp>
        <p:nvSpPr>
          <p:cNvPr id="5" name="Text 3"/>
          <p:cNvSpPr txBox="1"/>
          <p:nvPr/>
        </p:nvSpPr>
        <p:spPr>
          <a:xfrm>
            <a:off x="685800" y="2084832"/>
            <a:ext cx="10789920" cy="365760"/>
          </a:xfrm>
          <a:prstGeom prst="rect">
            <a:avLst/>
          </a:prstGeom>
          <a:noFill/>
          <a:ln/>
        </p:spPr>
        <p:txBody>
          <a:bodyPr wrap="square" lIns="0" tIns="0" rIns="0" bIns="0" rtlCol="0" anchor="t"/>
          <a:lstStyle/>
          <a:p>
            <a:pPr algn="l" indent="0" marL="0">
              <a:lnSpc>
                <a:spcPct val="125000"/>
              </a:lnSpc>
              <a:buNone/>
            </a:pPr>
            <a:r>
              <a:rPr lang="en-US" sz="1450" dirty="0">
                <a:solidFill>
                  <a:srgbClr val="B8B5B1"/>
                </a:solidFill>
                <a:latin typeface="Calibri" pitchFamily="34" charset="0"/>
                <a:ea typeface="Calibri" pitchFamily="34" charset="-122"/>
                <a:cs typeface="Calibri" pitchFamily="34" charset="-120"/>
              </a:rPr>
              <a:t>Each one switches on something that is already built and waiting. The video is the one real project on the list.</a:t>
            </a:r>
            <a:endParaRPr lang="en-US" sz="1450" dirty="0"/>
          </a:p>
        </p:txBody>
      </p:sp>
      <p:sp>
        <p:nvSpPr>
          <p:cNvPr id="6" name="Text 4"/>
          <p:cNvSpPr txBox="1"/>
          <p:nvPr/>
        </p:nvSpPr>
        <p:spPr>
          <a:xfrm>
            <a:off x="685800" y="259689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01</a:t>
            </a:r>
            <a:endParaRPr lang="en-US" sz="3000" dirty="0"/>
          </a:p>
        </p:txBody>
      </p:sp>
      <p:sp>
        <p:nvSpPr>
          <p:cNvPr id="7" name="Text 5"/>
          <p:cNvSpPr txBox="1"/>
          <p:nvPr/>
        </p:nvSpPr>
        <p:spPr>
          <a:xfrm>
            <a:off x="1417320" y="265176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Enter the Google code</a:t>
            </a:r>
            <a:endParaRPr lang="en-US" sz="1600" dirty="0"/>
          </a:p>
        </p:txBody>
      </p:sp>
      <p:sp>
        <p:nvSpPr>
          <p:cNvPr id="8" name="Text 6"/>
          <p:cNvSpPr txBox="1"/>
          <p:nvPr/>
        </p:nvSpPr>
        <p:spPr>
          <a:xfrm>
            <a:off x="1417320" y="298094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The day the postcard lands. Nothing else moves your phone as much.</a:t>
            </a:r>
            <a:endParaRPr lang="en-US" sz="1350" dirty="0"/>
          </a:p>
        </p:txBody>
      </p:sp>
      <p:sp>
        <p:nvSpPr>
          <p:cNvPr id="9" name="Text 7"/>
          <p:cNvSpPr txBox="1"/>
          <p:nvPr/>
        </p:nvSpPr>
        <p:spPr>
          <a:xfrm>
            <a:off x="685800" y="364845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02</a:t>
            </a:r>
            <a:endParaRPr lang="en-US" sz="3000" dirty="0"/>
          </a:p>
        </p:txBody>
      </p:sp>
      <p:sp>
        <p:nvSpPr>
          <p:cNvPr id="10" name="Text 8"/>
          <p:cNvSpPr txBox="1"/>
          <p:nvPr/>
        </p:nvSpPr>
        <p:spPr>
          <a:xfrm>
            <a:off x="1417320" y="370332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The team video</a:t>
            </a:r>
            <a:endParaRPr lang="en-US" sz="1600" dirty="0"/>
          </a:p>
        </p:txBody>
      </p:sp>
      <p:sp>
        <p:nvSpPr>
          <p:cNvPr id="11" name="Text 9"/>
          <p:cNvSpPr txBox="1"/>
          <p:nvPr/>
        </p:nvSpPr>
        <p:spPr>
          <a:xfrm>
            <a:off x="1417320" y="403250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The professionally shot piece we discussed — the one item here that needs a crew and a date.</a:t>
            </a:r>
            <a:endParaRPr lang="en-US" sz="1350" dirty="0"/>
          </a:p>
        </p:txBody>
      </p:sp>
      <p:sp>
        <p:nvSpPr>
          <p:cNvPr id="12" name="Text 10"/>
          <p:cNvSpPr txBox="1"/>
          <p:nvPr/>
        </p:nvSpPr>
        <p:spPr>
          <a:xfrm>
            <a:off x="685800" y="470001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03</a:t>
            </a:r>
            <a:endParaRPr lang="en-US" sz="3000" dirty="0"/>
          </a:p>
        </p:txBody>
      </p:sp>
      <p:sp>
        <p:nvSpPr>
          <p:cNvPr id="13" name="Text 11"/>
          <p:cNvSpPr txBox="1"/>
          <p:nvPr/>
        </p:nvSpPr>
        <p:spPr>
          <a:xfrm>
            <a:off x="1417320" y="475488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Send the Jobber form link</a:t>
            </a:r>
            <a:endParaRPr lang="en-US" sz="1600" dirty="0"/>
          </a:p>
        </p:txBody>
      </p:sp>
      <p:sp>
        <p:nvSpPr>
          <p:cNvPr id="14" name="Text 12"/>
          <p:cNvSpPr txBox="1"/>
          <p:nvPr/>
        </p:nvSpPr>
        <p:spPr>
          <a:xfrm>
            <a:off x="1417320" y="508406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Turns the online request form on. It is built and waiting for the URL.</a:t>
            </a:r>
            <a:endParaRPr lang="en-US" sz="1350" dirty="0"/>
          </a:p>
        </p:txBody>
      </p:sp>
      <p:sp>
        <p:nvSpPr>
          <p:cNvPr id="15" name="Text 13"/>
          <p:cNvSpPr txBox="1"/>
          <p:nvPr/>
        </p:nvSpPr>
        <p:spPr>
          <a:xfrm>
            <a:off x="685800" y="575157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04</a:t>
            </a:r>
            <a:endParaRPr lang="en-US" sz="3000" dirty="0"/>
          </a:p>
        </p:txBody>
      </p:sp>
      <p:sp>
        <p:nvSpPr>
          <p:cNvPr id="16" name="Text 14"/>
          <p:cNvSpPr txBox="1"/>
          <p:nvPr/>
        </p:nvSpPr>
        <p:spPr>
          <a:xfrm>
            <a:off x="1417320" y="580644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Point past clients at the review link</a:t>
            </a:r>
            <a:endParaRPr lang="en-US" sz="1600" dirty="0"/>
          </a:p>
        </p:txBody>
      </p:sp>
      <p:sp>
        <p:nvSpPr>
          <p:cNvPr id="17" name="Text 15"/>
          <p:cNvSpPr txBox="1"/>
          <p:nvPr/>
        </p:nvSpPr>
        <p:spPr>
          <a:xfrm>
            <a:off x="1417320" y="613562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They have already agreed. The link exists the moment Google verifies you.</a:t>
            </a:r>
            <a:endParaRPr lang="en-US" sz="1350" dirty="0"/>
          </a:p>
        </p:txBody>
      </p:sp>
      <p:sp>
        <p:nvSpPr>
          <p:cNvPr id="18" name="Text 16"/>
          <p:cNvSpPr txBox="1"/>
          <p:nvPr/>
        </p:nvSpPr>
        <p:spPr>
          <a:xfrm>
            <a:off x="6263640" y="259689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05</a:t>
            </a:r>
            <a:endParaRPr lang="en-US" sz="3000" dirty="0"/>
          </a:p>
        </p:txBody>
      </p:sp>
      <p:sp>
        <p:nvSpPr>
          <p:cNvPr id="19" name="Text 17"/>
          <p:cNvSpPr txBox="1"/>
          <p:nvPr/>
        </p:nvSpPr>
        <p:spPr>
          <a:xfrm>
            <a:off x="6995160" y="265176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Send the About page rewrite</a:t>
            </a:r>
            <a:endParaRPr lang="en-US" sz="1600" dirty="0"/>
          </a:p>
        </p:txBody>
      </p:sp>
      <p:sp>
        <p:nvSpPr>
          <p:cNvPr id="20" name="Text 18"/>
          <p:cNvSpPr txBox="1"/>
          <p:nvPr/>
        </p:nvSpPr>
        <p:spPr>
          <a:xfrm>
            <a:off x="6995160" y="298094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Plus the mission statement and crew photos. /about still runs the old copy.</a:t>
            </a:r>
            <a:endParaRPr lang="en-US" sz="1350" dirty="0"/>
          </a:p>
        </p:txBody>
      </p:sp>
      <p:sp>
        <p:nvSpPr>
          <p:cNvPr id="21" name="Text 19"/>
          <p:cNvSpPr txBox="1"/>
          <p:nvPr/>
        </p:nvSpPr>
        <p:spPr>
          <a:xfrm>
            <a:off x="6263640" y="364845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06</a:t>
            </a:r>
            <a:endParaRPr lang="en-US" sz="3000" dirty="0"/>
          </a:p>
        </p:txBody>
      </p:sp>
      <p:sp>
        <p:nvSpPr>
          <p:cNvPr id="22" name="Text 20"/>
          <p:cNvSpPr txBox="1"/>
          <p:nvPr/>
        </p:nvSpPr>
        <p:spPr>
          <a:xfrm>
            <a:off x="6995160" y="370332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A photo of you</a:t>
            </a:r>
            <a:endParaRPr lang="en-US" sz="1600" dirty="0"/>
          </a:p>
        </p:txBody>
      </p:sp>
      <p:sp>
        <p:nvSpPr>
          <p:cNvPr id="23" name="Text 21"/>
          <p:cNvSpPr txBox="1"/>
          <p:nvPr/>
        </p:nvSpPr>
        <p:spPr>
          <a:xfrm>
            <a:off x="6995160" y="403250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Or confirm the hard-hat photo in the Drive is you, and we will use it.</a:t>
            </a:r>
            <a:endParaRPr lang="en-US" sz="1350" dirty="0"/>
          </a:p>
        </p:txBody>
      </p:sp>
      <p:sp>
        <p:nvSpPr>
          <p:cNvPr id="24" name="Text 22"/>
          <p:cNvSpPr txBox="1"/>
          <p:nvPr/>
        </p:nvSpPr>
        <p:spPr>
          <a:xfrm>
            <a:off x="6263640" y="4700016"/>
            <a:ext cx="685800" cy="566928"/>
          </a:xfrm>
          <a:prstGeom prst="rect">
            <a:avLst/>
          </a:prstGeom>
          <a:noFill/>
          <a:ln/>
        </p:spPr>
        <p:txBody>
          <a:bodyPr wrap="square" lIns="0" tIns="0" rIns="0" bIns="0" rtlCol="0" anchor="t"/>
          <a:lstStyle/>
          <a:p>
            <a:pPr algn="l" indent="0" marL="0">
              <a:buNone/>
            </a:pPr>
            <a:r>
              <a:rPr lang="en-US" sz="3000" b="1" dirty="0">
                <a:solidFill>
                  <a:srgbClr val="C32C26"/>
                </a:solidFill>
                <a:latin typeface="Arial" pitchFamily="34" charset="0"/>
                <a:ea typeface="Arial" pitchFamily="34" charset="-122"/>
                <a:cs typeface="Arial" pitchFamily="34" charset="-120"/>
              </a:rPr>
              <a:t>07</a:t>
            </a:r>
            <a:endParaRPr lang="en-US" sz="3000" dirty="0"/>
          </a:p>
        </p:txBody>
      </p:sp>
      <p:sp>
        <p:nvSpPr>
          <p:cNvPr id="25" name="Text 23"/>
          <p:cNvSpPr txBox="1"/>
          <p:nvPr/>
        </p:nvSpPr>
        <p:spPr>
          <a:xfrm>
            <a:off x="6995160" y="4754880"/>
            <a:ext cx="4389120" cy="310896"/>
          </a:xfrm>
          <a:prstGeom prst="rect">
            <a:avLst/>
          </a:prstGeom>
          <a:noFill/>
          <a:ln/>
        </p:spPr>
        <p:txBody>
          <a:bodyPr wrap="square" lIns="0" tIns="0" rIns="0" bIns="0" rtlCol="0" anchor="t"/>
          <a:lstStyle/>
          <a:p>
            <a:pPr algn="l" indent="0" marL="0">
              <a:buNone/>
            </a:pPr>
            <a:r>
              <a:rPr lang="en-US" sz="1600" b="1" dirty="0">
                <a:solidFill>
                  <a:srgbClr val="FFFFFF"/>
                </a:solidFill>
                <a:latin typeface="Arial" pitchFamily="34" charset="0"/>
                <a:ea typeface="Arial" pitchFamily="34" charset="-122"/>
                <a:cs typeface="Arial" pitchFamily="34" charset="-120"/>
              </a:rPr>
              <a:t>Accepted and excluded materials</a:t>
            </a:r>
            <a:endParaRPr lang="en-US" sz="1600" dirty="0"/>
          </a:p>
        </p:txBody>
      </p:sp>
      <p:sp>
        <p:nvSpPr>
          <p:cNvPr id="26" name="Text 24"/>
          <p:cNvSpPr txBox="1"/>
          <p:nvPr/>
        </p:nvSpPr>
        <p:spPr>
          <a:xfrm>
            <a:off x="6995160" y="5084064"/>
            <a:ext cx="4389120" cy="685800"/>
          </a:xfrm>
          <a:prstGeom prst="rect">
            <a:avLst/>
          </a:prstGeom>
          <a:noFill/>
          <a:ln/>
        </p:spPr>
        <p:txBody>
          <a:bodyPr wrap="square" lIns="0" tIns="0" rIns="0" bIns="0" rtlCol="0" anchor="t"/>
          <a:lstStyle/>
          <a:p>
            <a:pPr algn="l" indent="0" marL="0">
              <a:lnSpc>
                <a:spcPct val="120000"/>
              </a:lnSpc>
              <a:buNone/>
            </a:pPr>
            <a:r>
              <a:rPr lang="en-US" sz="1350" dirty="0">
                <a:solidFill>
                  <a:srgbClr val="B8B5B1"/>
                </a:solidFill>
                <a:latin typeface="Calibri" pitchFamily="34" charset="0"/>
                <a:ea typeface="Calibri" pitchFamily="34" charset="-122"/>
                <a:cs typeface="Calibri" pitchFamily="34" charset="-120"/>
              </a:rPr>
              <a:t>The FAQ currently says this is still being finalized.</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SETTING THE CLOCK HONESTLY</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Being findable is the starting line, not the finish.</a:t>
            </a:r>
            <a:endParaRPr lang="en-US" sz="3100" dirty="0"/>
          </a:p>
        </p:txBody>
      </p:sp>
      <p:sp>
        <p:nvSpPr>
          <p:cNvPr id="4" name="Shape 2"/>
          <p:cNvSpPr/>
          <p:nvPr/>
        </p:nvSpPr>
        <p:spPr>
          <a:xfrm>
            <a:off x="685800" y="1783080"/>
            <a:ext cx="1463040" cy="32004"/>
          </a:xfrm>
          <a:prstGeom prst="rect">
            <a:avLst/>
          </a:prstGeom>
          <a:solidFill>
            <a:srgbClr val="C32C26"/>
          </a:solidFill>
          <a:ln/>
        </p:spPr>
      </p:sp>
      <p:sp>
        <p:nvSpPr>
          <p:cNvPr id="5" name="Text 3"/>
          <p:cNvSpPr txBox="1"/>
          <p:nvPr/>
        </p:nvSpPr>
        <p:spPr>
          <a:xfrm>
            <a:off x="685800" y="2103120"/>
            <a:ext cx="10789920" cy="640080"/>
          </a:xfrm>
          <a:prstGeom prst="rect">
            <a:avLst/>
          </a:prstGeom>
          <a:noFill/>
          <a:ln/>
        </p:spPr>
        <p:txBody>
          <a:bodyPr wrap="square" lIns="0" tIns="0" rIns="0" bIns="0" rtlCol="0" anchor="t"/>
          <a:lstStyle/>
          <a:p>
            <a:pPr algn="l" indent="0" marL="0">
              <a:lnSpc>
                <a:spcPct val="125000"/>
              </a:lnSpc>
              <a:buNone/>
            </a:pPr>
            <a:r>
              <a:rPr lang="en-US" sz="1500" dirty="0">
                <a:solidFill>
                  <a:srgbClr val="605F5D"/>
                </a:solidFill>
                <a:latin typeface="Calibri" pitchFamily="34" charset="0"/>
                <a:ea typeface="Calibri" pitchFamily="34" charset="-122"/>
                <a:cs typeface="Calibri" pitchFamily="34" charset="-120"/>
              </a:rPr>
              <a:t>This matters more than anything else in this deck. A brand-new site does not rank next week — no site does, and anyone who tells you otherwise is selling something.</a:t>
            </a:r>
            <a:endParaRPr lang="en-US" sz="1500" dirty="0"/>
          </a:p>
        </p:txBody>
      </p:sp>
      <p:sp>
        <p:nvSpPr>
          <p:cNvPr id="6" name="Text 4"/>
          <p:cNvSpPr txBox="1"/>
          <p:nvPr/>
        </p:nvSpPr>
        <p:spPr>
          <a:xfrm>
            <a:off x="685800" y="3063240"/>
            <a:ext cx="2331720" cy="320040"/>
          </a:xfrm>
          <a:prstGeom prst="rect">
            <a:avLst/>
          </a:prstGeom>
          <a:noFill/>
          <a:ln/>
        </p:spPr>
        <p:txBody>
          <a:bodyPr wrap="square" lIns="0" tIns="0" rIns="0" bIns="0" rtlCol="0" anchor="ctr"/>
          <a:lstStyle/>
          <a:p>
            <a:pPr indent="0" marL="0">
              <a:buNone/>
            </a:pPr>
            <a:r>
              <a:rPr lang="en-US" sz="1200" b="1" spc="150" kern="0" dirty="0">
                <a:solidFill>
                  <a:srgbClr val="A91E23"/>
                </a:solidFill>
                <a:latin typeface="Arial" pitchFamily="34" charset="0"/>
                <a:ea typeface="Arial" pitchFamily="34" charset="-122"/>
                <a:cs typeface="Arial" pitchFamily="34" charset="-120"/>
              </a:rPr>
              <a:t>DAYS TO WEEKS</a:t>
            </a:r>
            <a:endParaRPr lang="en-US" sz="1200" dirty="0"/>
          </a:p>
        </p:txBody>
      </p:sp>
      <p:sp>
        <p:nvSpPr>
          <p:cNvPr id="7" name="Text 5"/>
          <p:cNvSpPr txBox="1"/>
          <p:nvPr/>
        </p:nvSpPr>
        <p:spPr>
          <a:xfrm>
            <a:off x="3200400" y="3035808"/>
            <a:ext cx="8229600" cy="548640"/>
          </a:xfrm>
          <a:prstGeom prst="rect">
            <a:avLst/>
          </a:prstGeom>
          <a:noFill/>
          <a:ln/>
        </p:spPr>
        <p:txBody>
          <a:bodyPr wrap="square" lIns="0" tIns="0" rIns="0" bIns="0" rtlCol="0" anchor="ctr"/>
          <a:lstStyle/>
          <a:p>
            <a:pPr indent="0" marL="0">
              <a:lnSpc>
                <a:spcPct val="115000"/>
              </a:lnSpc>
              <a:buNone/>
            </a:pPr>
            <a:r>
              <a:rPr lang="en-US" sz="1400" dirty="0">
                <a:solidFill>
                  <a:srgbClr val="0B0D0E"/>
                </a:solidFill>
                <a:latin typeface="Calibri" pitchFamily="34" charset="0"/>
                <a:ea typeface="Calibri" pitchFamily="34" charset="-122"/>
                <a:cs typeface="Calibri" pitchFamily="34" charset="-120"/>
              </a:rPr>
              <a:t>Google discovers and indexes the pages</a:t>
            </a:r>
            <a:endParaRPr lang="en-US" sz="1400" dirty="0"/>
          </a:p>
        </p:txBody>
      </p:sp>
      <p:sp>
        <p:nvSpPr>
          <p:cNvPr id="8" name="Text 6"/>
          <p:cNvSpPr txBox="1"/>
          <p:nvPr/>
        </p:nvSpPr>
        <p:spPr>
          <a:xfrm>
            <a:off x="685800" y="3840480"/>
            <a:ext cx="2331720" cy="320040"/>
          </a:xfrm>
          <a:prstGeom prst="rect">
            <a:avLst/>
          </a:prstGeom>
          <a:noFill/>
          <a:ln/>
        </p:spPr>
        <p:txBody>
          <a:bodyPr wrap="square" lIns="0" tIns="0" rIns="0" bIns="0" rtlCol="0" anchor="ctr"/>
          <a:lstStyle/>
          <a:p>
            <a:pPr indent="0" marL="0">
              <a:buNone/>
            </a:pPr>
            <a:r>
              <a:rPr lang="en-US" sz="1200" b="1" spc="150" kern="0" dirty="0">
                <a:solidFill>
                  <a:srgbClr val="A91E23"/>
                </a:solidFill>
                <a:latin typeface="Arial" pitchFamily="34" charset="0"/>
                <a:ea typeface="Arial" pitchFamily="34" charset="-122"/>
                <a:cs typeface="Arial" pitchFamily="34" charset="-120"/>
              </a:rPr>
              <a:t>WEEKS</a:t>
            </a:r>
            <a:endParaRPr lang="en-US" sz="1200" dirty="0"/>
          </a:p>
        </p:txBody>
      </p:sp>
      <p:sp>
        <p:nvSpPr>
          <p:cNvPr id="9" name="Text 7"/>
          <p:cNvSpPr txBox="1"/>
          <p:nvPr/>
        </p:nvSpPr>
        <p:spPr>
          <a:xfrm>
            <a:off x="3200400" y="3813048"/>
            <a:ext cx="8229600" cy="548640"/>
          </a:xfrm>
          <a:prstGeom prst="rect">
            <a:avLst/>
          </a:prstGeom>
          <a:noFill/>
          <a:ln/>
        </p:spPr>
        <p:txBody>
          <a:bodyPr wrap="square" lIns="0" tIns="0" rIns="0" bIns="0" rtlCol="0" anchor="ctr"/>
          <a:lstStyle/>
          <a:p>
            <a:pPr indent="0" marL="0">
              <a:lnSpc>
                <a:spcPct val="115000"/>
              </a:lnSpc>
              <a:buNone/>
            </a:pPr>
            <a:r>
              <a:rPr lang="en-US" sz="1400" dirty="0">
                <a:solidFill>
                  <a:srgbClr val="0B0D0E"/>
                </a:solidFill>
                <a:latin typeface="Calibri" pitchFamily="34" charset="0"/>
                <a:ea typeface="Calibri" pitchFamily="34" charset="-122"/>
                <a:cs typeface="Calibri" pitchFamily="34" charset="-120"/>
              </a:rPr>
              <a:t>Your own name — "Redemption Cleanout Services" — returns you first</a:t>
            </a:r>
            <a:endParaRPr lang="en-US" sz="1400" dirty="0"/>
          </a:p>
        </p:txBody>
      </p:sp>
      <p:sp>
        <p:nvSpPr>
          <p:cNvPr id="10" name="Text 8"/>
          <p:cNvSpPr txBox="1"/>
          <p:nvPr/>
        </p:nvSpPr>
        <p:spPr>
          <a:xfrm>
            <a:off x="685800" y="4617720"/>
            <a:ext cx="2331720" cy="320040"/>
          </a:xfrm>
          <a:prstGeom prst="rect">
            <a:avLst/>
          </a:prstGeom>
          <a:noFill/>
          <a:ln/>
        </p:spPr>
        <p:txBody>
          <a:bodyPr wrap="square" lIns="0" tIns="0" rIns="0" bIns="0" rtlCol="0" anchor="ctr"/>
          <a:lstStyle/>
          <a:p>
            <a:pPr indent="0" marL="0">
              <a:buNone/>
            </a:pPr>
            <a:r>
              <a:rPr lang="en-US" sz="1200" b="1" spc="150" kern="0" dirty="0">
                <a:solidFill>
                  <a:srgbClr val="A91E23"/>
                </a:solidFill>
                <a:latin typeface="Arial" pitchFamily="34" charset="0"/>
                <a:ea typeface="Arial" pitchFamily="34" charset="-122"/>
                <a:cs typeface="Arial" pitchFamily="34" charset="-120"/>
              </a:rPr>
              <a:t>1–3 MONTHS</a:t>
            </a:r>
            <a:endParaRPr lang="en-US" sz="1200" dirty="0"/>
          </a:p>
        </p:txBody>
      </p:sp>
      <p:sp>
        <p:nvSpPr>
          <p:cNvPr id="11" name="Text 9"/>
          <p:cNvSpPr txBox="1"/>
          <p:nvPr/>
        </p:nvSpPr>
        <p:spPr>
          <a:xfrm>
            <a:off x="3200400" y="4590288"/>
            <a:ext cx="8229600" cy="548640"/>
          </a:xfrm>
          <a:prstGeom prst="rect">
            <a:avLst/>
          </a:prstGeom>
          <a:noFill/>
          <a:ln/>
        </p:spPr>
        <p:txBody>
          <a:bodyPr wrap="square" lIns="0" tIns="0" rIns="0" bIns="0" rtlCol="0" anchor="ctr"/>
          <a:lstStyle/>
          <a:p>
            <a:pPr indent="0" marL="0">
              <a:lnSpc>
                <a:spcPct val="115000"/>
              </a:lnSpc>
              <a:buNone/>
            </a:pPr>
            <a:r>
              <a:rPr lang="en-US" sz="1400" dirty="0">
                <a:solidFill>
                  <a:srgbClr val="0B0D0E"/>
                </a:solidFill>
                <a:latin typeface="Calibri" pitchFamily="34" charset="0"/>
                <a:ea typeface="Calibri" pitchFamily="34" charset="-122"/>
                <a:cs typeface="Calibri" pitchFamily="34" charset="-120"/>
              </a:rPr>
              <a:t>City and county searches start showing you, helped most by a verified Google profile and real reviews</a:t>
            </a:r>
            <a:endParaRPr lang="en-US" sz="1400" dirty="0"/>
          </a:p>
        </p:txBody>
      </p:sp>
      <p:sp>
        <p:nvSpPr>
          <p:cNvPr id="12" name="Text 10"/>
          <p:cNvSpPr txBox="1"/>
          <p:nvPr/>
        </p:nvSpPr>
        <p:spPr>
          <a:xfrm>
            <a:off x="685800" y="5394960"/>
            <a:ext cx="2331720" cy="320040"/>
          </a:xfrm>
          <a:prstGeom prst="rect">
            <a:avLst/>
          </a:prstGeom>
          <a:noFill/>
          <a:ln/>
        </p:spPr>
        <p:txBody>
          <a:bodyPr wrap="square" lIns="0" tIns="0" rIns="0" bIns="0" rtlCol="0" anchor="ctr"/>
          <a:lstStyle/>
          <a:p>
            <a:pPr indent="0" marL="0">
              <a:buNone/>
            </a:pPr>
            <a:r>
              <a:rPr lang="en-US" sz="1200" b="1" spc="150" kern="0" dirty="0">
                <a:solidFill>
                  <a:srgbClr val="A91E23"/>
                </a:solidFill>
                <a:latin typeface="Arial" pitchFamily="34" charset="0"/>
                <a:ea typeface="Arial" pitchFamily="34" charset="-122"/>
                <a:cs typeface="Arial" pitchFamily="34" charset="-120"/>
              </a:rPr>
              <a:t>MONTHS+</a:t>
            </a:r>
            <a:endParaRPr lang="en-US" sz="1200" dirty="0"/>
          </a:p>
        </p:txBody>
      </p:sp>
      <p:sp>
        <p:nvSpPr>
          <p:cNvPr id="13" name="Text 11"/>
          <p:cNvSpPr txBox="1"/>
          <p:nvPr/>
        </p:nvSpPr>
        <p:spPr>
          <a:xfrm>
            <a:off x="3200400" y="5367528"/>
            <a:ext cx="8229600" cy="548640"/>
          </a:xfrm>
          <a:prstGeom prst="rect">
            <a:avLst/>
          </a:prstGeom>
          <a:noFill/>
          <a:ln/>
        </p:spPr>
        <p:txBody>
          <a:bodyPr wrap="square" lIns="0" tIns="0" rIns="0" bIns="0" rtlCol="0" anchor="ctr"/>
          <a:lstStyle/>
          <a:p>
            <a:pPr indent="0" marL="0">
              <a:lnSpc>
                <a:spcPct val="115000"/>
              </a:lnSpc>
              <a:buNone/>
            </a:pPr>
            <a:r>
              <a:rPr lang="en-US" sz="1400" dirty="0">
                <a:solidFill>
                  <a:srgbClr val="0B0D0E"/>
                </a:solidFill>
                <a:latin typeface="Calibri" pitchFamily="34" charset="0"/>
                <a:ea typeface="Calibri" pitchFamily="34" charset="-122"/>
                <a:cs typeface="Calibri" pitchFamily="34" charset="-120"/>
              </a:rPr>
              <a:t>Competitive terms like "estate cleanout Oakland County"</a:t>
            </a:r>
            <a:endParaRPr lang="en-US" sz="1400" dirty="0"/>
          </a:p>
        </p:txBody>
      </p:sp>
      <p:sp>
        <p:nvSpPr>
          <p:cNvPr id="14" name="Shape 12"/>
          <p:cNvSpPr/>
          <p:nvPr/>
        </p:nvSpPr>
        <p:spPr>
          <a:xfrm>
            <a:off x="685800" y="5943600"/>
            <a:ext cx="10817352" cy="18288"/>
          </a:xfrm>
          <a:prstGeom prst="rect">
            <a:avLst/>
          </a:prstGeom>
          <a:solidFill>
            <a:srgbClr val="CFCBC7"/>
          </a:solidFill>
          <a:ln/>
        </p:spPr>
      </p:sp>
      <p:sp>
        <p:nvSpPr>
          <p:cNvPr id="15" name="Text 13"/>
          <p:cNvSpPr txBox="1"/>
          <p:nvPr/>
        </p:nvSpPr>
        <p:spPr>
          <a:xfrm>
            <a:off x="685800" y="6080760"/>
            <a:ext cx="10789920" cy="502920"/>
          </a:xfrm>
          <a:prstGeom prst="rect">
            <a:avLst/>
          </a:prstGeom>
          <a:noFill/>
          <a:ln/>
        </p:spPr>
        <p:txBody>
          <a:bodyPr wrap="square" lIns="0" tIns="0" rIns="0" bIns="0" rtlCol="0" anchor="ctr"/>
          <a:lstStyle/>
          <a:p>
            <a:pPr indent="0" marL="0">
              <a:lnSpc>
                <a:spcPct val="115000"/>
              </a:lnSpc>
              <a:buNone/>
            </a:pPr>
            <a:r>
              <a:rPr lang="en-US" sz="1350" i="1" dirty="0">
                <a:solidFill>
                  <a:srgbClr val="605F5D"/>
                </a:solidFill>
                <a:latin typeface="Calibri" pitchFamily="34" charset="0"/>
                <a:ea typeface="Calibri" pitchFamily="34" charset="-122"/>
                <a:cs typeface="Calibri" pitchFamily="34" charset="-120"/>
              </a:rPr>
              <a:t>Don't test it by searching "junk removal michigan." That is the wrong term, and the site is deliberately not built to win it. Search your own business name, or "estate cleanout" plus a city you work in.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E1DE"/>
        </a:solidFill>
      </p:bgPr>
    </p:bg>
    <p:spTree>
      <p:nvGrpSpPr>
        <p:cNvPr id="1" name=""/>
        <p:cNvGrpSpPr/>
        <p:nvPr/>
      </p:nvGrpSpPr>
      <p:grpSpPr>
        <a:xfrm>
          <a:off x="0" y="0"/>
          <a:ext cx="0" cy="0"/>
          <a:chOff x="0" y="0"/>
          <a:chExt cx="0" cy="0"/>
        </a:xfrm>
      </p:grpSpPr>
      <p:sp>
        <p:nvSpPr>
          <p:cNvPr id="2" name="Text 0"/>
          <p:cNvSpPr txBox="1"/>
          <p:nvPr/>
        </p:nvSpPr>
        <p:spPr>
          <a:xfrm>
            <a:off x="685800" y="640080"/>
            <a:ext cx="7315200" cy="256032"/>
          </a:xfrm>
          <a:prstGeom prst="rect">
            <a:avLst/>
          </a:prstGeom>
          <a:noFill/>
          <a:ln/>
        </p:spPr>
        <p:txBody>
          <a:bodyPr wrap="square" lIns="0" tIns="0" rIns="0" bIns="0" rtlCol="0" anchor="ctr"/>
          <a:lstStyle/>
          <a:p>
            <a:pPr algn="l" indent="0" marL="0">
              <a:buNone/>
            </a:pPr>
            <a:r>
              <a:rPr lang="en-US" sz="1100" b="1" spc="300" kern="0" dirty="0">
                <a:solidFill>
                  <a:srgbClr val="A91E23"/>
                </a:solidFill>
                <a:latin typeface="Arial" pitchFamily="34" charset="0"/>
                <a:ea typeface="Arial" pitchFamily="34" charset="-122"/>
                <a:cs typeface="Arial" pitchFamily="34" charset="-120"/>
              </a:rPr>
              <a:t>WHERE WE ARE</a:t>
            </a:r>
            <a:endParaRPr lang="en-US" sz="1100" dirty="0"/>
          </a:p>
        </p:txBody>
      </p:sp>
      <p:sp>
        <p:nvSpPr>
          <p:cNvPr id="3" name="Text 1"/>
          <p:cNvSpPr txBox="1"/>
          <p:nvPr/>
        </p:nvSpPr>
        <p:spPr>
          <a:xfrm>
            <a:off x="685800" y="1005840"/>
            <a:ext cx="10789920" cy="548640"/>
          </a:xfrm>
          <a:prstGeom prst="rect">
            <a:avLst/>
          </a:prstGeom>
          <a:noFill/>
          <a:ln/>
        </p:spPr>
        <p:txBody>
          <a:bodyPr wrap="square" lIns="0" tIns="0" rIns="0" bIns="0" rtlCol="0" anchor="t"/>
          <a:lstStyle/>
          <a:p>
            <a:pPr indent="0" marL="0">
              <a:lnSpc>
                <a:spcPct val="100000"/>
              </a:lnSpc>
              <a:buNone/>
            </a:pPr>
            <a:r>
              <a:rPr lang="en-US" sz="3100" b="1" spc="50" kern="0" dirty="0">
                <a:solidFill>
                  <a:srgbClr val="0B0D0E"/>
                </a:solidFill>
                <a:latin typeface="Arial" pitchFamily="34" charset="0"/>
                <a:ea typeface="Arial" pitchFamily="34" charset="-122"/>
                <a:cs typeface="Arial" pitchFamily="34" charset="-120"/>
              </a:rPr>
              <a:t>The build, and what comes after it.</a:t>
            </a:r>
            <a:endParaRPr lang="en-US" sz="3100" dirty="0"/>
          </a:p>
        </p:txBody>
      </p:sp>
      <p:sp>
        <p:nvSpPr>
          <p:cNvPr id="4" name="Shape 2"/>
          <p:cNvSpPr/>
          <p:nvPr/>
        </p:nvSpPr>
        <p:spPr>
          <a:xfrm>
            <a:off x="685800" y="1783080"/>
            <a:ext cx="1463040" cy="32004"/>
          </a:xfrm>
          <a:prstGeom prst="rect">
            <a:avLst/>
          </a:prstGeom>
          <a:solidFill>
            <a:srgbClr val="C32C26"/>
          </a:solidFill>
          <a:ln/>
        </p:spPr>
      </p:sp>
      <p:sp>
        <p:nvSpPr>
          <p:cNvPr id="5" name="Shape 3"/>
          <p:cNvSpPr/>
          <p:nvPr/>
        </p:nvSpPr>
        <p:spPr>
          <a:xfrm>
            <a:off x="685800" y="2240280"/>
            <a:ext cx="5349240" cy="2286000"/>
          </a:xfrm>
          <a:prstGeom prst="rect">
            <a:avLst/>
          </a:prstGeom>
          <a:solidFill>
            <a:srgbClr val="FFFFFF"/>
          </a:solidFill>
          <a:ln/>
        </p:spPr>
      </p:sp>
      <p:sp>
        <p:nvSpPr>
          <p:cNvPr id="6" name="Text 4"/>
          <p:cNvSpPr txBox="1"/>
          <p:nvPr/>
        </p:nvSpPr>
        <p:spPr>
          <a:xfrm>
            <a:off x="978408" y="2487168"/>
            <a:ext cx="365760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PROJECT TOTAL</a:t>
            </a:r>
            <a:endParaRPr lang="en-US" sz="1000" dirty="0"/>
          </a:p>
        </p:txBody>
      </p:sp>
      <p:sp>
        <p:nvSpPr>
          <p:cNvPr id="7" name="Text 5"/>
          <p:cNvSpPr txBox="1"/>
          <p:nvPr/>
        </p:nvSpPr>
        <p:spPr>
          <a:xfrm>
            <a:off x="978408" y="2788920"/>
            <a:ext cx="4572000" cy="777240"/>
          </a:xfrm>
          <a:prstGeom prst="rect">
            <a:avLst/>
          </a:prstGeom>
          <a:noFill/>
          <a:ln/>
        </p:spPr>
        <p:txBody>
          <a:bodyPr wrap="square" lIns="0" tIns="0" rIns="0" bIns="0" rtlCol="0" anchor="ctr"/>
          <a:lstStyle/>
          <a:p>
            <a:pPr indent="0" marL="0">
              <a:buNone/>
            </a:pPr>
            <a:r>
              <a:rPr lang="en-US" sz="4400" b="1" dirty="0">
                <a:solidFill>
                  <a:srgbClr val="0B0D0E"/>
                </a:solidFill>
                <a:latin typeface="Arial" pitchFamily="34" charset="0"/>
                <a:ea typeface="Arial" pitchFamily="34" charset="-122"/>
                <a:cs typeface="Arial" pitchFamily="34" charset="-120"/>
              </a:rPr>
              <a:t>$2,500</a:t>
            </a:r>
            <a:endParaRPr lang="en-US" sz="4400" dirty="0"/>
          </a:p>
        </p:txBody>
      </p:sp>
      <p:sp>
        <p:nvSpPr>
          <p:cNvPr id="8" name="Text 6"/>
          <p:cNvSpPr txBox="1"/>
          <p:nvPr/>
        </p:nvSpPr>
        <p:spPr>
          <a:xfrm>
            <a:off x="978408" y="3657600"/>
            <a:ext cx="4754880" cy="731520"/>
          </a:xfrm>
          <a:prstGeom prst="rect">
            <a:avLst/>
          </a:prstGeom>
          <a:noFill/>
          <a:ln/>
        </p:spPr>
        <p:txBody>
          <a:bodyPr wrap="square" lIns="0" tIns="0" rIns="0" bIns="0" rtlCol="0" anchor="t"/>
          <a:lstStyle/>
          <a:p>
            <a:pPr marL="342900" indent="-342900">
              <a:lnSpc>
                <a:spcPct val="115000"/>
              </a:lnSpc>
              <a:spcAft>
                <a:spcPts val="600"/>
              </a:spcAft>
              <a:buSzPct val="100000"/>
              <a:buChar char="•"/>
            </a:pPr>
            <a:r>
              <a:rPr lang="en-US" sz="1350" dirty="0">
                <a:solidFill>
                  <a:srgbClr val="0B0D0E"/>
                </a:solidFill>
                <a:latin typeface="Calibri" pitchFamily="34" charset="0"/>
                <a:ea typeface="Calibri" pitchFamily="34" charset="-122"/>
                <a:cs typeface="Calibri" pitchFamily="34" charset="-120"/>
              </a:rPr>
              <a:t>$1,250 received — thank you</a:t>
            </a:r>
            <a:endParaRPr lang="en-US" sz="1350" dirty="0"/>
          </a:p>
          <a:p>
            <a:pPr marL="342900" indent="-342900">
              <a:lnSpc>
                <a:spcPct val="115000"/>
              </a:lnSpc>
              <a:buSzPct val="100000"/>
              <a:buChar char="•"/>
            </a:pPr>
            <a:r>
              <a:rPr lang="en-US" sz="1350" dirty="0">
                <a:solidFill>
                  <a:srgbClr val="0B0D0E"/>
                </a:solidFill>
                <a:latin typeface="Calibri" pitchFamily="34" charset="0"/>
                <a:ea typeface="Calibri" pitchFamily="34" charset="-122"/>
                <a:cs typeface="Calibri" pitchFamily="34" charset="-120"/>
              </a:rPr>
              <a:t>$1,250 remaining, ideally by Friday, September 4</a:t>
            </a:r>
            <a:endParaRPr lang="en-US" sz="1350" dirty="0"/>
          </a:p>
        </p:txBody>
      </p:sp>
      <p:sp>
        <p:nvSpPr>
          <p:cNvPr id="9" name="Shape 7"/>
          <p:cNvSpPr/>
          <p:nvPr/>
        </p:nvSpPr>
        <p:spPr>
          <a:xfrm>
            <a:off x="6355080" y="2240280"/>
            <a:ext cx="5120640" cy="2286000"/>
          </a:xfrm>
          <a:prstGeom prst="rect">
            <a:avLst/>
          </a:prstGeom>
          <a:solidFill>
            <a:srgbClr val="FFFFFF"/>
          </a:solidFill>
          <a:ln/>
        </p:spPr>
      </p:sp>
      <p:sp>
        <p:nvSpPr>
          <p:cNvPr id="10" name="Text 8"/>
          <p:cNvSpPr txBox="1"/>
          <p:nvPr/>
        </p:nvSpPr>
        <p:spPr>
          <a:xfrm>
            <a:off x="6647688" y="2487168"/>
            <a:ext cx="365760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REVISION WINDOW</a:t>
            </a:r>
            <a:endParaRPr lang="en-US" sz="1000" dirty="0"/>
          </a:p>
        </p:txBody>
      </p:sp>
      <p:sp>
        <p:nvSpPr>
          <p:cNvPr id="11" name="Text 9"/>
          <p:cNvSpPr txBox="1"/>
          <p:nvPr/>
        </p:nvSpPr>
        <p:spPr>
          <a:xfrm>
            <a:off x="6647688" y="2788920"/>
            <a:ext cx="4572000" cy="777240"/>
          </a:xfrm>
          <a:prstGeom prst="rect">
            <a:avLst/>
          </a:prstGeom>
          <a:noFill/>
          <a:ln/>
        </p:spPr>
        <p:txBody>
          <a:bodyPr wrap="square" lIns="0" tIns="0" rIns="0" bIns="0" rtlCol="0" anchor="ctr"/>
          <a:lstStyle/>
          <a:p>
            <a:pPr indent="0" marL="0">
              <a:buNone/>
            </a:pPr>
            <a:r>
              <a:rPr lang="en-US" sz="4400" b="1" dirty="0">
                <a:solidFill>
                  <a:srgbClr val="0B0D0E"/>
                </a:solidFill>
                <a:latin typeface="Arial" pitchFamily="34" charset="0"/>
                <a:ea typeface="Arial" pitchFamily="34" charset="-122"/>
                <a:cs typeface="Arial" pitchFamily="34" charset="-120"/>
              </a:rPr>
              <a:t>14 days</a:t>
            </a:r>
            <a:endParaRPr lang="en-US" sz="4400" dirty="0"/>
          </a:p>
        </p:txBody>
      </p:sp>
      <p:sp>
        <p:nvSpPr>
          <p:cNvPr id="12" name="Text 10"/>
          <p:cNvSpPr txBox="1"/>
          <p:nvPr/>
        </p:nvSpPr>
        <p:spPr>
          <a:xfrm>
            <a:off x="6647688" y="3657600"/>
            <a:ext cx="4526280" cy="731520"/>
          </a:xfrm>
          <a:prstGeom prst="rect">
            <a:avLst/>
          </a:prstGeom>
          <a:noFill/>
          <a:ln/>
        </p:spPr>
        <p:txBody>
          <a:bodyPr wrap="square" lIns="0" tIns="0" rIns="0" bIns="0" rtlCol="0" anchor="ctr"/>
          <a:lstStyle/>
          <a:p>
            <a:pPr indent="0" marL="0">
              <a:lnSpc>
                <a:spcPct val="115000"/>
              </a:lnSpc>
              <a:buNone/>
            </a:pPr>
            <a:r>
              <a:rPr lang="en-US" sz="1350" dirty="0">
                <a:solidFill>
                  <a:srgbClr val="0B0D0E"/>
                </a:solidFill>
                <a:latin typeface="Calibri" pitchFamily="34" charset="0"/>
                <a:ea typeface="Calibri" pitchFamily="34" charset="-122"/>
                <a:cs typeface="Calibri" pitchFamily="34" charset="-120"/>
              </a:rPr>
              <a:t>From final payment, to send through any last edits, corrections and content updates — included. If Friday holds, that runs to September 18.</a:t>
            </a:r>
            <a:endParaRPr lang="en-US" sz="1350" dirty="0"/>
          </a:p>
        </p:txBody>
      </p:sp>
      <p:sp>
        <p:nvSpPr>
          <p:cNvPr id="13" name="Text 11"/>
          <p:cNvSpPr txBox="1"/>
          <p:nvPr/>
        </p:nvSpPr>
        <p:spPr>
          <a:xfrm>
            <a:off x="685800" y="4800600"/>
            <a:ext cx="7315200" cy="274320"/>
          </a:xfrm>
          <a:prstGeom prst="rect">
            <a:avLst/>
          </a:prstGeom>
          <a:noFill/>
          <a:ln/>
        </p:spPr>
        <p:txBody>
          <a:bodyPr wrap="square" lIns="0" tIns="0" rIns="0" bIns="0" rtlCol="0" anchor="ctr"/>
          <a:lstStyle/>
          <a:p>
            <a:pPr indent="0" marL="0">
              <a:buNone/>
            </a:pPr>
            <a:r>
              <a:rPr lang="en-US" sz="1000" b="1" spc="200" kern="0" dirty="0">
                <a:solidFill>
                  <a:srgbClr val="A91E23"/>
                </a:solidFill>
                <a:latin typeface="Arial" pitchFamily="34" charset="0"/>
                <a:ea typeface="Arial" pitchFamily="34" charset="-122"/>
                <a:cs typeface="Arial" pitchFamily="34" charset="-120"/>
              </a:rPr>
              <a:t>AFTER THAT — WORTH A CONVERSATION</a:t>
            </a:r>
            <a:endParaRPr lang="en-US" sz="1000" dirty="0"/>
          </a:p>
        </p:txBody>
      </p:sp>
      <p:sp>
        <p:nvSpPr>
          <p:cNvPr id="14" name="Text 12"/>
          <p:cNvSpPr txBox="1"/>
          <p:nvPr/>
        </p:nvSpPr>
        <p:spPr>
          <a:xfrm>
            <a:off x="685800" y="5120640"/>
            <a:ext cx="10789920" cy="1188720"/>
          </a:xfrm>
          <a:prstGeom prst="rect">
            <a:avLst/>
          </a:prstGeom>
          <a:noFill/>
          <a:ln/>
        </p:spPr>
        <p:txBody>
          <a:bodyPr wrap="square" lIns="0" tIns="0" rIns="0" bIns="0" rtlCol="0" anchor="ctr"/>
          <a:lstStyle/>
          <a:p>
            <a:pPr indent="0" marL="0">
              <a:lnSpc>
                <a:spcPct val="120000"/>
              </a:lnSpc>
              <a:buNone/>
            </a:pPr>
            <a:r>
              <a:rPr lang="en-US" sz="1400" dirty="0">
                <a:solidFill>
                  <a:srgbClr val="0B0D0E"/>
                </a:solidFill>
                <a:latin typeface="Calibri" pitchFamily="34" charset="0"/>
                <a:ea typeface="Calibri" pitchFamily="34" charset="-122"/>
                <a:cs typeface="Calibri" pitchFamily="34" charset="-120"/>
              </a:rPr>
              <a:t>A monthly retainer for the back-office side: keeping the site and the Google profile current, publishing new job photos as they come in, posting to the profile, chasing and answering reviews, and integrating the CRM so leads, quotes and jobs run through one system instead of a phone and a notebook. Happy to put shape and a number to it whenever you want to talk.</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D0E"/>
        </a:solidFill>
      </p:bgPr>
    </p:bg>
    <p:spTree>
      <p:nvGrpSpPr>
        <p:cNvPr id="1" name=""/>
        <p:cNvGrpSpPr/>
        <p:nvPr/>
      </p:nvGrpSpPr>
      <p:grpSpPr>
        <a:xfrm>
          <a:off x="0" y="0"/>
          <a:ext cx="0" cy="0"/>
          <a:chOff x="0" y="0"/>
          <a:chExt cx="0" cy="0"/>
        </a:xfrm>
      </p:grpSpPr>
      <p:pic>
        <p:nvPicPr>
          <p:cNvPr id="2" name="Image 0" descr="/tmp/claude-0/-home-user-Redemption-Cleaout/6c436b38-4a00-5a84-b2a4-cdf94e186ff0/scratchpad/deck/branded-dump-trailer-curbside.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0D0E">
              <a:alpha val="75000"/>
            </a:srgbClr>
          </a:solidFill>
          <a:ln/>
        </p:spPr>
      </p:sp>
      <p:sp>
        <p:nvSpPr>
          <p:cNvPr id="4" name="Shape 1"/>
          <p:cNvSpPr/>
          <p:nvPr/>
        </p:nvSpPr>
        <p:spPr>
          <a:xfrm>
            <a:off x="0" y="2331720"/>
            <a:ext cx="12191695" cy="4526280"/>
          </a:xfrm>
          <a:prstGeom prst="rect">
            <a:avLst/>
          </a:prstGeom>
          <a:solidFill>
            <a:srgbClr val="0B0D0E">
              <a:alpha val="92000"/>
            </a:srgbClr>
          </a:solidFill>
          <a:ln/>
        </p:spPr>
      </p:sp>
      <p:sp>
        <p:nvSpPr>
          <p:cNvPr id="5" name="Text 2"/>
          <p:cNvSpPr txBox="1"/>
          <p:nvPr/>
        </p:nvSpPr>
        <p:spPr>
          <a:xfrm>
            <a:off x="685800" y="2880360"/>
            <a:ext cx="7315200" cy="1554480"/>
          </a:xfrm>
          <a:prstGeom prst="rect">
            <a:avLst/>
          </a:prstGeom>
          <a:noFill/>
          <a:ln/>
        </p:spPr>
        <p:txBody>
          <a:bodyPr wrap="square" lIns="0" tIns="0" rIns="0" bIns="0" rtlCol="0" anchor="ctr"/>
          <a:lstStyle/>
          <a:p>
            <a:pPr indent="0" marL="0">
              <a:lnSpc>
                <a:spcPct val="105000"/>
              </a:lnSpc>
              <a:buNone/>
            </a:pPr>
            <a:r>
              <a:rPr lang="en-US" sz="3600" b="1" spc="50" kern="0" dirty="0">
                <a:solidFill>
                  <a:srgbClr val="FFFFFF"/>
                </a:solidFill>
                <a:latin typeface="Arial" pitchFamily="34" charset="0"/>
                <a:ea typeface="Arial" pitchFamily="34" charset="-122"/>
                <a:cs typeface="Arial" pitchFamily="34" charset="-120"/>
              </a:rPr>
              <a:t>REDEEM YOUR PROPERTY.</a:t>
            </a:r>
            <a:endParaRPr lang="en-US" sz="3600" dirty="0"/>
          </a:p>
          <a:p>
            <a:pPr indent="0" marL="0">
              <a:lnSpc>
                <a:spcPct val="105000"/>
              </a:lnSpc>
              <a:buNone/>
            </a:pPr>
            <a:r>
              <a:rPr lang="en-US" sz="3600" b="1" spc="50" kern="0" dirty="0">
                <a:solidFill>
                  <a:srgbClr val="FFFFFF"/>
                </a:solidFill>
                <a:latin typeface="Arial" pitchFamily="34" charset="0"/>
                <a:ea typeface="Arial" pitchFamily="34" charset="-122"/>
                <a:cs typeface="Arial" pitchFamily="34" charset="-120"/>
              </a:rPr>
              <a:t>REDEEM YOUR SPACE.</a:t>
            </a:r>
            <a:endParaRPr lang="en-US" sz="3600" dirty="0"/>
          </a:p>
        </p:txBody>
      </p:sp>
      <p:sp>
        <p:nvSpPr>
          <p:cNvPr id="6" name="Shape 3"/>
          <p:cNvSpPr/>
          <p:nvPr/>
        </p:nvSpPr>
        <p:spPr>
          <a:xfrm>
            <a:off x="685800" y="4617720"/>
            <a:ext cx="1463040" cy="32004"/>
          </a:xfrm>
          <a:prstGeom prst="rect">
            <a:avLst/>
          </a:prstGeom>
          <a:solidFill>
            <a:srgbClr val="C32C26"/>
          </a:solidFill>
          <a:ln/>
        </p:spPr>
      </p:sp>
      <p:sp>
        <p:nvSpPr>
          <p:cNvPr id="7" name="Text 4"/>
          <p:cNvSpPr txBox="1"/>
          <p:nvPr/>
        </p:nvSpPr>
        <p:spPr>
          <a:xfrm>
            <a:off x="685800" y="4892040"/>
            <a:ext cx="6949440" cy="1097280"/>
          </a:xfrm>
          <a:prstGeom prst="rect">
            <a:avLst/>
          </a:prstGeom>
          <a:noFill/>
          <a:ln/>
        </p:spPr>
        <p:txBody>
          <a:bodyPr wrap="square" lIns="0" tIns="0" rIns="0" bIns="0" rtlCol="0" anchor="ctr"/>
          <a:lstStyle/>
          <a:p>
            <a:pPr indent="0" marL="0">
              <a:lnSpc>
                <a:spcPct val="125000"/>
              </a:lnSpc>
              <a:buNone/>
            </a:pPr>
            <a:r>
              <a:rPr lang="en-US" sz="1450" dirty="0">
                <a:solidFill>
                  <a:srgbClr val="D8D5D1"/>
                </a:solidFill>
                <a:latin typeface="Calibri" pitchFamily="34" charset="0"/>
                <a:ea typeface="Calibri" pitchFamily="34" charset="-122"/>
                <a:cs typeface="Calibri" pitchFamily="34" charset="-120"/>
              </a:rPr>
              <a:t>redemptioncleanoutservices.com — live now.</a:t>
            </a:r>
            <a:endParaRPr lang="en-US" sz="1450" dirty="0"/>
          </a:p>
          <a:p>
            <a:pPr indent="0" marL="0">
              <a:lnSpc>
                <a:spcPct val="125000"/>
              </a:lnSpc>
              <a:buNone/>
            </a:pPr>
            <a:endParaRPr lang="en-US" sz="1450" dirty="0"/>
          </a:p>
          <a:p>
            <a:pPr indent="0" marL="0">
              <a:lnSpc>
                <a:spcPct val="125000"/>
              </a:lnSpc>
              <a:buNone/>
            </a:pPr>
            <a:r>
              <a:rPr lang="en-US" sz="1450" dirty="0">
                <a:solidFill>
                  <a:srgbClr val="D8D5D1"/>
                </a:solidFill>
                <a:latin typeface="Calibri" pitchFamily="34" charset="0"/>
                <a:ea typeface="Calibri" pitchFamily="34" charset="-122"/>
                <a:cs typeface="Calibri" pitchFamily="34" charset="-120"/>
              </a:rPr>
              <a:t>Questions, edits, or anything you want changed: send them over and we'll get to them.</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Living Water 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Redemption Cleanout Services — Project Review</dc:title>
  <dc:subject>PptxGenJS Presentation</dc:subject>
  <dc:creator>Living Water Network</dc:creator>
  <cp:lastModifiedBy>Living Water Network</cp:lastModifiedBy>
  <cp:revision>1</cp:revision>
  <dcterms:created xsi:type="dcterms:W3CDTF">2026-09-01T23:16:38Z</dcterms:created>
  <dcterms:modified xsi:type="dcterms:W3CDTF">2026-09-01T23:16:38Z</dcterms:modified>
</cp:coreProperties>
</file>